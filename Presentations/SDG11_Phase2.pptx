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68" r:id="rId3"/>
    <p:sldId id="270" r:id="rId4"/>
    <p:sldId id="273" r:id="rId5"/>
    <p:sldId id="257" r:id="rId6"/>
    <p:sldId id="258" r:id="rId7"/>
    <p:sldId id="259" r:id="rId8"/>
    <p:sldId id="266" r:id="rId9"/>
    <p:sldId id="267" r:id="rId10"/>
    <p:sldId id="260" r:id="rId11"/>
    <p:sldId id="261" r:id="rId12"/>
    <p:sldId id="262" r:id="rId13"/>
    <p:sldId id="263" r:id="rId14"/>
    <p:sldId id="272" r:id="rId15"/>
    <p:sldId id="265" r:id="rId16"/>
    <p:sldId id="271" r:id="rId17"/>
    <p:sldId id="264" r:id="rId18"/>
    <p:sldId id="274" r:id="rId19"/>
    <p:sldId id="275" r:id="rId20"/>
  </p:sldIdLst>
  <p:sldSz cx="14630400" cy="8229600"/>
  <p:notesSz cx="8229600" cy="14630400"/>
  <p:embeddedFontLst>
    <p:embeddedFont>
      <p:font typeface="Raleway" pitchFamily="2" charset="0"/>
      <p:regular r:id="rId22"/>
      <p:bold r:id="rId23"/>
      <p:italic r:id="rId24"/>
      <p:boldItalic r:id="rId25"/>
    </p:embeddedFont>
    <p:embeddedFont>
      <p:font typeface="Raleway Light" pitchFamily="2" charset="0"/>
      <p:regular r:id="rId26"/>
      <p:italic r:id="rId27"/>
    </p:embeddedFont>
    <p:embeddedFont>
      <p:font typeface="Roboto" panose="02000000000000000000" pitchFamily="2"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A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48D4B6-ED8D-40C1-A9D5-EA8C56E58EEE}" v="19" dt="2026-01-20T16:55:47.633"/>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522" y="5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516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F6D0A-5296-EF25-6A3D-108C45FDF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D0077-F9C3-775E-3574-56BA0AB0D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C808B-52E3-4504-C06C-BC65B6ACE3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7EF64-A80A-0623-B027-88DD8D2190B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96011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5B466-C84D-572F-D9F8-08CCB1FDE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83F2D-B0D4-EB47-12C4-F0A19CAD0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B7CF-389B-2DA0-E632-5877AAC34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2C370-9B7C-249B-C11D-079B334C064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60096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B245E-3397-BCCD-EB79-688C45545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5D4CA-F518-0E02-CAA6-DAC4EF949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E8ABC-59D8-7DC9-A8F0-AE9E3F43C9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DA2848-7642-BB00-4380-B1601A81185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5743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C4CFF-7D20-7458-6092-D0F1007FF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82634-F703-DAD0-9BD6-5A1C9789E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F4DE3-53E5-8823-B0E2-6A4269C77A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3BA05D-C319-E9FE-AEB1-C7BDEE26B96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96570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9BA6B-0D29-00A7-CCA1-AEA464208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E4D79-C203-F716-A82C-04EAE0B1B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17BD5-3DA9-7E1B-29D1-5F6A2FBB7D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EFD022-D06E-47F0-62DB-46DD9345434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421993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518C-448B-C603-28F7-10188221A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5023D-1135-AB4A-0BF4-D636CD685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51C6D-22B6-0D4C-7EB0-C9AD789DC7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21879-0471-E702-E583-A438408ADA7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2572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ABE6C-7747-995F-28AD-AA63E51D4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5370A-2380-0E65-3E87-1599769F7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D97A4-4294-3308-2DAD-6687944F9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E570BF-92B4-694B-7AD3-17EFB842E32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06021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533B-03DB-3F7A-E830-C7A84F8BE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77535-78BF-A448-2450-E28EBD924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533F1-0D63-59B8-602E-8EE4BBDC6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08D291-4851-5DEB-1F4A-6E215CF05AE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10030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8407C-572A-56DD-7FF7-A429FF156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27A4D-784A-8C82-F165-28D22384D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57361-5F03-CEED-7C8D-871BBF2F7B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86FA09-710C-3576-4FA0-E2CB2CA9625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7584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sv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2650450"/>
            <a:ext cx="3368754"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4" name="Text 1"/>
          <p:cNvSpPr/>
          <p:nvPr/>
        </p:nvSpPr>
        <p:spPr>
          <a:xfrm>
            <a:off x="6280190" y="3095506"/>
            <a:ext cx="8093732" cy="2129315"/>
          </a:xfrm>
          <a:prstGeom prst="rect">
            <a:avLst/>
          </a:prstGeom>
          <a:noFill/>
          <a:ln/>
        </p:spPr>
        <p:txBody>
          <a:bodyPr wrap="square" lIns="0" tIns="0" rIns="0" bIns="0" rtlCol="0" anchor="t"/>
          <a:lstStyle/>
          <a:p>
            <a:pPr marL="0" indent="0" algn="l">
              <a:lnSpc>
                <a:spcPts val="5550"/>
              </a:lnSpc>
              <a:buNone/>
            </a:pPr>
            <a:endParaRPr lang="en-US" sz="4450" dirty="0"/>
          </a:p>
        </p:txBody>
      </p:sp>
      <p:sp>
        <p:nvSpPr>
          <p:cNvPr id="5" name="Text 2"/>
          <p:cNvSpPr/>
          <p:nvPr/>
        </p:nvSpPr>
        <p:spPr>
          <a:xfrm>
            <a:off x="6280190" y="5315547"/>
            <a:ext cx="7556421"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6" name="Google Shape;96;p1">
            <a:extLst>
              <a:ext uri="{FF2B5EF4-FFF2-40B4-BE49-F238E27FC236}">
                <a16:creationId xmlns:a16="http://schemas.microsoft.com/office/drawing/2014/main" id="{12507475-5A97-1C95-A947-12ACF9C66002}"/>
              </a:ext>
            </a:extLst>
          </p:cNvPr>
          <p:cNvSpPr txBox="1"/>
          <p:nvPr/>
        </p:nvSpPr>
        <p:spPr>
          <a:xfrm>
            <a:off x="6239139" y="2632002"/>
            <a:ext cx="3110322" cy="380560"/>
          </a:xfrm>
          <a:prstGeom prst="rect">
            <a:avLst/>
          </a:prstGeom>
          <a:noFill/>
          <a:ln>
            <a:noFill/>
          </a:ln>
        </p:spPr>
        <p:txBody>
          <a:bodyPr spcFirstLastPara="1" wrap="square" lIns="82283" tIns="41130" rIns="82283" bIns="41130" anchor="ctr" anchorCtr="0">
            <a:noAutofit/>
          </a:bodyPr>
          <a:lstStyle/>
          <a:p>
            <a:pPr algn="just">
              <a:buClr>
                <a:srgbClr val="CC0000"/>
              </a:buClr>
              <a:buSzPts val="2800"/>
            </a:pPr>
            <a:r>
              <a:rPr lang="en-US" sz="2880" b="1" dirty="0">
                <a:solidFill>
                  <a:srgbClr val="CC0000"/>
                </a:solidFill>
                <a:latin typeface="Times New Roman"/>
                <a:ea typeface="Times New Roman"/>
                <a:cs typeface="Times New Roman"/>
                <a:sym typeface="Times New Roman"/>
              </a:rPr>
              <a:t>Phase-I Review</a:t>
            </a:r>
            <a:endParaRPr sz="2880" b="1" dirty="0">
              <a:solidFill>
                <a:srgbClr val="CC0000"/>
              </a:solidFill>
              <a:latin typeface="Times New Roman"/>
              <a:ea typeface="Times New Roman"/>
              <a:cs typeface="Times New Roman"/>
              <a:sym typeface="Times New Roman"/>
            </a:endParaRPr>
          </a:p>
        </p:txBody>
      </p:sp>
      <p:sp>
        <p:nvSpPr>
          <p:cNvPr id="7" name="Google Shape;97;p1">
            <a:extLst>
              <a:ext uri="{FF2B5EF4-FFF2-40B4-BE49-F238E27FC236}">
                <a16:creationId xmlns:a16="http://schemas.microsoft.com/office/drawing/2014/main" id="{666E4462-DE2F-CF91-E06F-B3BB0A84A1BF}"/>
              </a:ext>
            </a:extLst>
          </p:cNvPr>
          <p:cNvSpPr txBox="1"/>
          <p:nvPr/>
        </p:nvSpPr>
        <p:spPr>
          <a:xfrm>
            <a:off x="3263879" y="4286542"/>
            <a:ext cx="9401376" cy="3302036"/>
          </a:xfrm>
          <a:prstGeom prst="rect">
            <a:avLst/>
          </a:prstGeom>
          <a:noFill/>
          <a:ln>
            <a:noFill/>
          </a:ln>
        </p:spPr>
        <p:txBody>
          <a:bodyPr spcFirstLastPara="1" wrap="square" lIns="82283" tIns="41130" rIns="82283" bIns="41130" anchor="ctr" anchorCtr="0">
            <a:noAutofit/>
          </a:bodyPr>
          <a:lstStyle/>
          <a:p>
            <a:pPr algn="ctr">
              <a:buClr>
                <a:srgbClr val="00B050"/>
              </a:buClr>
              <a:buSzPts val="2800"/>
            </a:pPr>
            <a:r>
              <a:rPr lang="en-US" sz="3360" dirty="0">
                <a:solidFill>
                  <a:srgbClr val="000099"/>
                </a:solidFill>
                <a:latin typeface="Times New Roman"/>
                <a:ea typeface="Times New Roman"/>
                <a:cs typeface="Times New Roman"/>
                <a:sym typeface="Times New Roman"/>
              </a:rPr>
              <a:t>Theme: SDG 11- Sustainable Cities and Communities</a:t>
            </a:r>
          </a:p>
          <a:p>
            <a:pPr algn="ctr">
              <a:buClr>
                <a:srgbClr val="00B050"/>
              </a:buClr>
              <a:buSzPts val="2800"/>
            </a:pPr>
            <a:endParaRPr lang="en-US" sz="3360" dirty="0">
              <a:solidFill>
                <a:srgbClr val="000099"/>
              </a:solidFill>
              <a:latin typeface="Times New Roman"/>
              <a:ea typeface="Times New Roman"/>
              <a:cs typeface="Times New Roman"/>
              <a:sym typeface="Times New Roman"/>
            </a:endParaRPr>
          </a:p>
          <a:p>
            <a:pPr algn="ctr">
              <a:buClr>
                <a:srgbClr val="00B050"/>
              </a:buClr>
              <a:buSzPts val="2800"/>
            </a:pPr>
            <a:r>
              <a:rPr lang="en-US" sz="3360" dirty="0">
                <a:solidFill>
                  <a:srgbClr val="C00000"/>
                </a:solidFill>
                <a:latin typeface="Times New Roman"/>
                <a:ea typeface="Times New Roman"/>
                <a:cs typeface="Times New Roman"/>
                <a:sym typeface="Times New Roman"/>
              </a:rPr>
              <a:t>Title of the Presentation</a:t>
            </a:r>
          </a:p>
          <a:p>
            <a:pPr algn="ctr">
              <a:lnSpc>
                <a:spcPts val="5550"/>
              </a:lnSpc>
            </a:pPr>
            <a:r>
              <a:rPr lang="en-US" sz="3600" dirty="0">
                <a:solidFill>
                  <a:srgbClr val="1B1B27"/>
                </a:solidFill>
                <a:latin typeface="Raleway" pitchFamily="34" charset="0"/>
                <a:ea typeface="Raleway" pitchFamily="34" charset="-122"/>
                <a:cs typeface="Raleway" pitchFamily="34" charset="-120"/>
              </a:rPr>
              <a:t>SnapFix:</a:t>
            </a:r>
            <a:r>
              <a:rPr lang="en-IN" sz="3600" dirty="0">
                <a:latin typeface="Raleway" panose="020F0502020204030204" pitchFamily="2" charset="0"/>
              </a:rPr>
              <a:t>Democratizing Urban Maintenance through AI-Driven Citizen Reporting</a:t>
            </a:r>
          </a:p>
          <a:p>
            <a:pPr>
              <a:lnSpc>
                <a:spcPts val="5550"/>
              </a:lnSpc>
            </a:pPr>
            <a:endParaRPr lang="en-US" sz="3600" dirty="0"/>
          </a:p>
        </p:txBody>
      </p:sp>
      <p:sp>
        <p:nvSpPr>
          <p:cNvPr id="8" name="Google Shape;98;p1">
            <a:extLst>
              <a:ext uri="{FF2B5EF4-FFF2-40B4-BE49-F238E27FC236}">
                <a16:creationId xmlns:a16="http://schemas.microsoft.com/office/drawing/2014/main" id="{3DA2B481-1560-C3C6-289D-F1AAEA92B71A}"/>
              </a:ext>
            </a:extLst>
          </p:cNvPr>
          <p:cNvSpPr txBox="1"/>
          <p:nvPr/>
        </p:nvSpPr>
        <p:spPr>
          <a:xfrm>
            <a:off x="6239139" y="3368115"/>
            <a:ext cx="2661347" cy="380560"/>
          </a:xfrm>
          <a:prstGeom prst="rect">
            <a:avLst/>
          </a:prstGeom>
          <a:noFill/>
          <a:ln>
            <a:noFill/>
          </a:ln>
        </p:spPr>
        <p:txBody>
          <a:bodyPr spcFirstLastPara="1" wrap="square" lIns="82283" tIns="41130" rIns="82283" bIns="41130" anchor="ctr" anchorCtr="0">
            <a:noAutofit/>
          </a:bodyPr>
          <a:lstStyle/>
          <a:p>
            <a:pPr algn="ctr">
              <a:buClr>
                <a:schemeClr val="dk1"/>
              </a:buClr>
              <a:buSzPts val="2800"/>
            </a:pPr>
            <a:r>
              <a:rPr lang="en-US" sz="3360" b="1" dirty="0">
                <a:solidFill>
                  <a:schemeClr val="dk1"/>
                </a:solidFill>
                <a:latin typeface="Times New Roman"/>
                <a:ea typeface="Times New Roman"/>
                <a:cs typeface="Times New Roman"/>
                <a:sym typeface="Times New Roman"/>
              </a:rPr>
              <a:t>on</a:t>
            </a:r>
            <a:endParaRPr sz="1440" dirty="0"/>
          </a:p>
        </p:txBody>
      </p:sp>
      <p:sp>
        <p:nvSpPr>
          <p:cNvPr id="10" name="TextBox 9">
            <a:extLst>
              <a:ext uri="{FF2B5EF4-FFF2-40B4-BE49-F238E27FC236}">
                <a16:creationId xmlns:a16="http://schemas.microsoft.com/office/drawing/2014/main" id="{021149C5-2286-5D94-3BE8-EB464A3CC2D0}"/>
              </a:ext>
            </a:extLst>
          </p:cNvPr>
          <p:cNvSpPr txBox="1"/>
          <p:nvPr/>
        </p:nvSpPr>
        <p:spPr>
          <a:xfrm>
            <a:off x="3760789" y="1947838"/>
            <a:ext cx="7504390" cy="649345"/>
          </a:xfrm>
          <a:prstGeom prst="rect">
            <a:avLst/>
          </a:prstGeom>
          <a:noFill/>
        </p:spPr>
        <p:txBody>
          <a:bodyPr wrap="square">
            <a:spAutoFit/>
          </a:bodyPr>
          <a:lstStyle/>
          <a:p>
            <a:pPr algn="ctr">
              <a:lnSpc>
                <a:spcPct val="115000"/>
              </a:lnSpc>
              <a:spcAft>
                <a:spcPts val="1200"/>
              </a:spcAft>
            </a:pPr>
            <a:r>
              <a:rPr lang="en-US" sz="3360" b="1" dirty="0">
                <a:latin typeface="Times New Roman" panose="02020603050405020304" pitchFamily="18" charset="0"/>
                <a:ea typeface="Times New Roman" panose="02020603050405020304" pitchFamily="18" charset="0"/>
                <a:cs typeface="Times New Roman" panose="02020603050405020304" pitchFamily="18" charset="0"/>
              </a:rPr>
              <a:t>Experiential Learning - ODD 2025-26</a:t>
            </a:r>
            <a:endParaRPr lang="en-IN" sz="192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3FFE31CA-2FFD-D769-27D2-2B777E894733}"/>
              </a:ext>
            </a:extLst>
          </p:cNvPr>
          <p:cNvPicPr>
            <a:picLocks noChangeAspect="1"/>
          </p:cNvPicPr>
          <p:nvPr/>
        </p:nvPicPr>
        <p:blipFill>
          <a:blip r:embed="rId3"/>
          <a:stretch>
            <a:fillRect/>
          </a:stretch>
        </p:blipFill>
        <p:spPr>
          <a:xfrm>
            <a:off x="6732138" y="288549"/>
            <a:ext cx="1232429" cy="1232429"/>
          </a:xfrm>
          <a:prstGeom prst="rect">
            <a:avLst/>
          </a:prstGeom>
        </p:spPr>
      </p:pic>
      <p:sp>
        <p:nvSpPr>
          <p:cNvPr id="12" name="Rectangle 11">
            <a:extLst>
              <a:ext uri="{FF2B5EF4-FFF2-40B4-BE49-F238E27FC236}">
                <a16:creationId xmlns:a16="http://schemas.microsoft.com/office/drawing/2014/main" id="{F136225B-4A59-2AD3-7214-360940FBD416}"/>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2" descr="RV College of Engineering Bengaluru | Top Engineering Institution">
            <a:extLst>
              <a:ext uri="{FF2B5EF4-FFF2-40B4-BE49-F238E27FC236}">
                <a16:creationId xmlns:a16="http://schemas.microsoft.com/office/drawing/2014/main" id="{C08241F1-2B03-CB5E-BBE0-19F1A28A0B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476" y="288549"/>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3883FEE-5CC9-E9EA-8E33-BA6C700A2D04}"/>
              </a:ext>
            </a:extLst>
          </p:cNvPr>
          <p:cNvSpPr txBox="1"/>
          <p:nvPr/>
        </p:nvSpPr>
        <p:spPr>
          <a:xfrm>
            <a:off x="10997215" y="410661"/>
            <a:ext cx="3298709" cy="461665"/>
          </a:xfrm>
          <a:prstGeom prst="rect">
            <a:avLst/>
          </a:prstGeom>
          <a:noFill/>
        </p:spPr>
        <p:txBody>
          <a:bodyPr wrap="square" rtlCol="0">
            <a:spAutoFit/>
          </a:bodyPr>
          <a:lstStyle/>
          <a:p>
            <a:r>
              <a:rPr lang="en-IN" sz="24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BD2B-6196-FFF3-5D0B-DC996A8BC5F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B84DEA7-2C77-D4C1-A843-CB6C0492E222}"/>
              </a:ext>
            </a:extLst>
          </p:cNvPr>
          <p:cNvSpPr/>
          <p:nvPr/>
        </p:nvSpPr>
        <p:spPr>
          <a:xfrm>
            <a:off x="5103583" y="1385331"/>
            <a:ext cx="4825228" cy="739058"/>
          </a:xfrm>
          <a:prstGeom prst="rect">
            <a:avLst/>
          </a:prstGeom>
          <a:noFill/>
          <a:ln/>
        </p:spPr>
        <p:txBody>
          <a:bodyPr wrap="none" lIns="0" tIns="0" rIns="0" bIns="0" rtlCol="0" anchor="t"/>
          <a:lstStyle/>
          <a:p>
            <a:pPr marL="0" indent="0" algn="l">
              <a:lnSpc>
                <a:spcPts val="1450"/>
              </a:lnSpc>
              <a:buNone/>
            </a:pPr>
            <a:r>
              <a:rPr lang="en-US" sz="4000" dirty="0">
                <a:solidFill>
                  <a:srgbClr val="3C3939"/>
                </a:solidFill>
                <a:latin typeface="Roboto" pitchFamily="34" charset="0"/>
                <a:ea typeface="Roboto" pitchFamily="34" charset="-122"/>
                <a:cs typeface="Roboto" pitchFamily="34" charset="-120"/>
              </a:rPr>
              <a:t>Team Details</a:t>
            </a:r>
            <a:endParaRPr lang="en-US" sz="4000" dirty="0"/>
          </a:p>
        </p:txBody>
      </p:sp>
      <p:sp>
        <p:nvSpPr>
          <p:cNvPr id="21" name="Rectangle 20">
            <a:extLst>
              <a:ext uri="{FF2B5EF4-FFF2-40B4-BE49-F238E27FC236}">
                <a16:creationId xmlns:a16="http://schemas.microsoft.com/office/drawing/2014/main" id="{1531BDEA-5C8B-489F-C310-AB2DDD0C737F}"/>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DF971247-E403-5FDA-BEB2-214DFE739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078A3E7F-92E4-07DD-7F05-2A175988E2E9}"/>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graphicFrame>
        <p:nvGraphicFramePr>
          <p:cNvPr id="6" name="Table 5">
            <a:extLst>
              <a:ext uri="{FF2B5EF4-FFF2-40B4-BE49-F238E27FC236}">
                <a16:creationId xmlns:a16="http://schemas.microsoft.com/office/drawing/2014/main" id="{107CE696-2D03-E906-F859-CA86FC378601}"/>
              </a:ext>
            </a:extLst>
          </p:cNvPr>
          <p:cNvGraphicFramePr>
            <a:graphicFrameLocks noGrp="1"/>
          </p:cNvGraphicFramePr>
          <p:nvPr>
            <p:extLst>
              <p:ext uri="{D42A27DB-BD31-4B8C-83A1-F6EECF244321}">
                <p14:modId xmlns:p14="http://schemas.microsoft.com/office/powerpoint/2010/main" val="996458463"/>
              </p:ext>
            </p:extLst>
          </p:nvPr>
        </p:nvGraphicFramePr>
        <p:xfrm>
          <a:off x="489584" y="1839611"/>
          <a:ext cx="13735700" cy="2005584"/>
        </p:xfrm>
        <a:graphic>
          <a:graphicData uri="http://schemas.openxmlformats.org/drawingml/2006/table">
            <a:tbl>
              <a:tblPr firstRow="1" bandRow="1">
                <a:tableStyleId>{5940675A-B579-460E-94D1-54222C63F5DA}</a:tableStyleId>
              </a:tblPr>
              <a:tblGrid>
                <a:gridCol w="2894250">
                  <a:extLst>
                    <a:ext uri="{9D8B030D-6E8A-4147-A177-3AD203B41FA5}">
                      <a16:colId xmlns:a16="http://schemas.microsoft.com/office/drawing/2014/main" val="1516020321"/>
                    </a:ext>
                  </a:extLst>
                </a:gridCol>
                <a:gridCol w="2718359">
                  <a:extLst>
                    <a:ext uri="{9D8B030D-6E8A-4147-A177-3AD203B41FA5}">
                      <a16:colId xmlns:a16="http://schemas.microsoft.com/office/drawing/2014/main" val="3040951681"/>
                    </a:ext>
                  </a:extLst>
                </a:gridCol>
                <a:gridCol w="2798308">
                  <a:extLst>
                    <a:ext uri="{9D8B030D-6E8A-4147-A177-3AD203B41FA5}">
                      <a16:colId xmlns:a16="http://schemas.microsoft.com/office/drawing/2014/main" val="4147963398"/>
                    </a:ext>
                  </a:extLst>
                </a:gridCol>
                <a:gridCol w="2766328">
                  <a:extLst>
                    <a:ext uri="{9D8B030D-6E8A-4147-A177-3AD203B41FA5}">
                      <a16:colId xmlns:a16="http://schemas.microsoft.com/office/drawing/2014/main" val="827942356"/>
                    </a:ext>
                  </a:extLst>
                </a:gridCol>
                <a:gridCol w="2558455">
                  <a:extLst>
                    <a:ext uri="{9D8B030D-6E8A-4147-A177-3AD203B41FA5}">
                      <a16:colId xmlns:a16="http://schemas.microsoft.com/office/drawing/2014/main" val="801335104"/>
                    </a:ext>
                  </a:extLst>
                </a:gridCol>
              </a:tblGrid>
              <a:tr h="768096">
                <a:tc>
                  <a:txBody>
                    <a:bodyPr/>
                    <a:lstStyle/>
                    <a:p>
                      <a:r>
                        <a:rPr lang="en-US" sz="2200" b="1" dirty="0">
                          <a:solidFill>
                            <a:schemeClr val="tx1"/>
                          </a:solidFill>
                          <a:latin typeface="Times New Roman" panose="02020603050405020304" pitchFamily="18" charset="0"/>
                          <a:cs typeface="Times New Roman" panose="02020603050405020304" pitchFamily="18" charset="0"/>
                        </a:rPr>
                        <a:t>NAME OF STUDENT</a:t>
                      </a:r>
                      <a:endParaRPr lang="en-IN" sz="2200" b="1" dirty="0">
                        <a:solidFill>
                          <a:schemeClr val="tx1"/>
                        </a:solidFill>
                        <a:latin typeface="Times New Roman" panose="02020603050405020304" pitchFamily="18" charset="0"/>
                        <a:cs typeface="Times New Roman" panose="02020603050405020304" pitchFamily="18" charset="0"/>
                      </a:endParaRP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Yashas M N</a:t>
                      </a: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Saharsha </a:t>
                      </a: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Samartha K B</a:t>
                      </a: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Avyay Bhat</a:t>
                      </a:r>
                    </a:p>
                  </a:txBody>
                  <a:tcPr marL="109728" marR="109728" marT="54864" marB="54864"/>
                </a:tc>
                <a:extLst>
                  <a:ext uri="{0D108BD9-81ED-4DB2-BD59-A6C34878D82A}">
                    <a16:rowId xmlns:a16="http://schemas.microsoft.com/office/drawing/2014/main" val="2589033531"/>
                  </a:ext>
                </a:extLst>
              </a:tr>
              <a:tr h="438912">
                <a:tc>
                  <a:txBody>
                    <a:bodyPr/>
                    <a:lstStyle/>
                    <a:p>
                      <a:r>
                        <a:rPr lang="en-US" sz="2200" b="1" dirty="0">
                          <a:solidFill>
                            <a:schemeClr val="tx1"/>
                          </a:solidFill>
                          <a:latin typeface="Times New Roman" panose="02020603050405020304" pitchFamily="18" charset="0"/>
                          <a:cs typeface="Times New Roman" panose="02020603050405020304" pitchFamily="18" charset="0"/>
                        </a:rPr>
                        <a:t>USN</a:t>
                      </a:r>
                      <a:endParaRPr lang="en-IN" sz="2200" b="1" dirty="0">
                        <a:solidFill>
                          <a:schemeClr val="tx1"/>
                        </a:solidFill>
                        <a:latin typeface="Times New Roman" panose="02020603050405020304" pitchFamily="18" charset="0"/>
                        <a:cs typeface="Times New Roman" panose="02020603050405020304" pitchFamily="18" charset="0"/>
                      </a:endParaRP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1RV23CY062</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1RV23CY036</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1RV23CD036</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1RV23CS058</a:t>
                      </a:r>
                    </a:p>
                  </a:txBody>
                  <a:tcPr marL="109728" marR="109728" marT="54864" marB="54864"/>
                </a:tc>
                <a:extLst>
                  <a:ext uri="{0D108BD9-81ED-4DB2-BD59-A6C34878D82A}">
                    <a16:rowId xmlns:a16="http://schemas.microsoft.com/office/drawing/2014/main" val="344385610"/>
                  </a:ext>
                </a:extLst>
              </a:tr>
              <a:tr h="768096">
                <a:tc>
                  <a:txBody>
                    <a:bodyPr/>
                    <a:lstStyle/>
                    <a:p>
                      <a:r>
                        <a:rPr lang="en-US" sz="2200" b="1" dirty="0">
                          <a:solidFill>
                            <a:schemeClr val="tx1"/>
                          </a:solidFill>
                          <a:latin typeface="Times New Roman" panose="02020603050405020304" pitchFamily="18" charset="0"/>
                          <a:cs typeface="Times New Roman" panose="02020603050405020304" pitchFamily="18" charset="0"/>
                        </a:rPr>
                        <a:t>EMAIL ID </a:t>
                      </a:r>
                      <a:endParaRPr lang="en-IN" sz="2200" b="1" dirty="0">
                        <a:solidFill>
                          <a:schemeClr val="tx1"/>
                        </a:solidFill>
                        <a:latin typeface="Times New Roman" panose="02020603050405020304" pitchFamily="18" charset="0"/>
                        <a:cs typeface="Times New Roman" panose="02020603050405020304" pitchFamily="18" charset="0"/>
                      </a:endParaRPr>
                    </a:p>
                  </a:txBody>
                  <a:tcPr marL="109728" marR="109728" marT="54864" marB="54864"/>
                </a:tc>
                <a:tc>
                  <a:txBody>
                    <a:bodyPr/>
                    <a:lstStyle/>
                    <a:p>
                      <a:r>
                        <a:rPr lang="en-IN" sz="2200" b="1" dirty="0">
                          <a:solidFill>
                            <a:schemeClr val="tx1"/>
                          </a:solidFill>
                          <a:latin typeface="Times New Roman" panose="02020603050405020304" pitchFamily="18" charset="0"/>
                          <a:cs typeface="Times New Roman" panose="02020603050405020304" pitchFamily="18" charset="0"/>
                        </a:rPr>
                        <a:t>yashasmn.cy23@rvce.edu.in</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saharsha.cy23@rvce.edu.in</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samarthakb.cd23@rvce.edu.in</a:t>
                      </a:r>
                    </a:p>
                  </a:txBody>
                  <a:tcPr marL="109728" marR="109728" marT="54864" marB="54864"/>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200" b="1" dirty="0">
                          <a:solidFill>
                            <a:schemeClr val="tx1"/>
                          </a:solidFill>
                          <a:latin typeface="Times New Roman" panose="02020603050405020304" pitchFamily="18" charset="0"/>
                          <a:cs typeface="Times New Roman" panose="02020603050405020304" pitchFamily="18" charset="0"/>
                        </a:rPr>
                        <a:t>avyaybhat.cs23@rvce.edu.in</a:t>
                      </a:r>
                    </a:p>
                  </a:txBody>
                  <a:tcPr marL="109728" marR="109728" marT="54864" marB="54864"/>
                </a:tc>
                <a:extLst>
                  <a:ext uri="{0D108BD9-81ED-4DB2-BD59-A6C34878D82A}">
                    <a16:rowId xmlns:a16="http://schemas.microsoft.com/office/drawing/2014/main" val="2933802711"/>
                  </a:ext>
                </a:extLst>
              </a:tr>
            </a:tbl>
          </a:graphicData>
        </a:graphic>
      </p:graphicFrame>
      <p:sp>
        <p:nvSpPr>
          <p:cNvPr id="7" name="TextBox 6">
            <a:extLst>
              <a:ext uri="{FF2B5EF4-FFF2-40B4-BE49-F238E27FC236}">
                <a16:creationId xmlns:a16="http://schemas.microsoft.com/office/drawing/2014/main" id="{D2AC73E3-4BFB-4EE5-5E78-3D3F42978F4A}"/>
              </a:ext>
            </a:extLst>
          </p:cNvPr>
          <p:cNvSpPr txBox="1"/>
          <p:nvPr/>
        </p:nvSpPr>
        <p:spPr>
          <a:xfrm>
            <a:off x="4925447" y="5292252"/>
            <a:ext cx="4015578" cy="2195473"/>
          </a:xfrm>
          <a:prstGeom prst="rect">
            <a:avLst/>
          </a:prstGeom>
          <a:noFill/>
        </p:spPr>
        <p:txBody>
          <a:bodyPr wrap="square">
            <a:spAutoFit/>
          </a:bodyPr>
          <a:lstStyle/>
          <a:p>
            <a:pPr algn="ctr">
              <a:spcAft>
                <a:spcPts val="960"/>
              </a:spcAft>
            </a:pPr>
            <a:r>
              <a:rPr lang="pl-PL" sz="2400" b="1" dirty="0"/>
              <a:t>Dr. Rajeswara Rao K V S</a:t>
            </a:r>
            <a:br>
              <a:rPr lang="en-US" sz="216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Designation</a:t>
            </a:r>
            <a:br>
              <a:rPr 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Department of  IEM</a:t>
            </a:r>
          </a:p>
          <a:p>
            <a:pPr algn="ctr">
              <a:spcAft>
                <a:spcPts val="960"/>
              </a:spcAft>
            </a:pPr>
            <a:r>
              <a:rPr lang="en-US" sz="24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RV College of Engineering</a:t>
            </a:r>
          </a:p>
          <a:p>
            <a:pPr algn="ctr">
              <a:spcAft>
                <a:spcPts val="960"/>
              </a:spcAft>
            </a:pPr>
            <a:r>
              <a:rPr lang="en-US" sz="24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Bengaluru-59</a:t>
            </a:r>
            <a:endParaRPr lang="en-IN" sz="2160" dirty="0">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A70F7E04-86EC-C57A-E6FA-89A367035894}"/>
              </a:ext>
            </a:extLst>
          </p:cNvPr>
          <p:cNvSpPr txBox="1"/>
          <p:nvPr/>
        </p:nvSpPr>
        <p:spPr>
          <a:xfrm>
            <a:off x="5808189" y="4702540"/>
            <a:ext cx="2479284" cy="584775"/>
          </a:xfrm>
          <a:prstGeom prst="rect">
            <a:avLst/>
          </a:prstGeom>
          <a:noFill/>
        </p:spPr>
        <p:txBody>
          <a:bodyPr wrap="square" rtlCol="0">
            <a:spAutoFit/>
          </a:bodyPr>
          <a:lstStyle/>
          <a:p>
            <a:r>
              <a:rPr lang="en-US" sz="3200" dirty="0">
                <a:solidFill>
                  <a:schemeClr val="bg2">
                    <a:lumMod val="25000"/>
                  </a:schemeClr>
                </a:solidFill>
                <a:latin typeface="Raleway" pitchFamily="2" charset="0"/>
                <a:cs typeface="Times New Roman" panose="02020603050405020304" pitchFamily="18" charset="0"/>
              </a:rPr>
              <a:t>MENTOR</a:t>
            </a:r>
            <a:endParaRPr lang="en-IN" sz="3200" dirty="0">
              <a:solidFill>
                <a:schemeClr val="bg2">
                  <a:lumMod val="25000"/>
                </a:schemeClr>
              </a:solidFill>
              <a:latin typeface="Raleway" pitchFamily="2" charset="0"/>
              <a:cs typeface="Times New Roman" panose="02020603050405020304" pitchFamily="18" charset="0"/>
            </a:endParaRPr>
          </a:p>
        </p:txBody>
      </p:sp>
    </p:spTree>
    <p:extLst>
      <p:ext uri="{BB962C8B-B14F-4D97-AF65-F5344CB8AC3E}">
        <p14:creationId xmlns:p14="http://schemas.microsoft.com/office/powerpoint/2010/main" val="3849784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C2366-8499-FDDB-E646-CD734D97BCA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1EBD3F4-1524-40DF-8A34-FC67BB0AD151}"/>
              </a:ext>
            </a:extLst>
          </p:cNvPr>
          <p:cNvSpPr/>
          <p:nvPr/>
        </p:nvSpPr>
        <p:spPr>
          <a:xfrm>
            <a:off x="5053057" y="1472767"/>
            <a:ext cx="4825228" cy="739058"/>
          </a:xfrm>
          <a:prstGeom prst="rect">
            <a:avLst/>
          </a:prstGeom>
          <a:noFill/>
          <a:ln/>
        </p:spPr>
        <p:txBody>
          <a:bodyPr wrap="none" lIns="0" tIns="0" rIns="0" bIns="0" rtlCol="0" anchor="t"/>
          <a:lstStyle/>
          <a:p>
            <a:pPr marL="0" indent="0" algn="l">
              <a:lnSpc>
                <a:spcPts val="1450"/>
              </a:lnSpc>
              <a:buNone/>
            </a:pPr>
            <a:r>
              <a:rPr lang="en-US" sz="4000" dirty="0">
                <a:solidFill>
                  <a:srgbClr val="3C3939"/>
                </a:solidFill>
                <a:latin typeface="Roboto" pitchFamily="34" charset="0"/>
                <a:ea typeface="Roboto" pitchFamily="34" charset="-122"/>
                <a:cs typeface="Roboto" pitchFamily="34" charset="-120"/>
              </a:rPr>
              <a:t>Table of Contents</a:t>
            </a:r>
            <a:endParaRPr lang="en-US" sz="4000" dirty="0"/>
          </a:p>
        </p:txBody>
      </p:sp>
      <p:sp>
        <p:nvSpPr>
          <p:cNvPr id="21" name="Rectangle 20">
            <a:extLst>
              <a:ext uri="{FF2B5EF4-FFF2-40B4-BE49-F238E27FC236}">
                <a16:creationId xmlns:a16="http://schemas.microsoft.com/office/drawing/2014/main" id="{DDC72D01-21B6-6A94-E434-6408B366033E}"/>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A4951B8F-85E2-6D51-0458-8CE8FC07B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DFCD976C-C810-EC27-55EE-19646B8FE065}"/>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2" name="TextBox 1">
            <a:extLst>
              <a:ext uri="{FF2B5EF4-FFF2-40B4-BE49-F238E27FC236}">
                <a16:creationId xmlns:a16="http://schemas.microsoft.com/office/drawing/2014/main" id="{6E665AED-74FD-00C0-DADF-4161DCFFF064}"/>
              </a:ext>
            </a:extLst>
          </p:cNvPr>
          <p:cNvSpPr txBox="1"/>
          <p:nvPr/>
        </p:nvSpPr>
        <p:spPr>
          <a:xfrm>
            <a:off x="1157468" y="1979271"/>
            <a:ext cx="6308203" cy="6124754"/>
          </a:xfrm>
          <a:prstGeom prst="rect">
            <a:avLst/>
          </a:prstGeom>
          <a:noFill/>
        </p:spPr>
        <p:txBody>
          <a:bodyPr wrap="square" rtlCol="0">
            <a:spAutoFit/>
          </a:bodyPr>
          <a:lstStyle/>
          <a:p>
            <a:pPr marL="342900" indent="-342900">
              <a:buAutoNum type="arabicPeriod"/>
            </a:pPr>
            <a:r>
              <a:rPr lang="en-IN" sz="2800" dirty="0">
                <a:latin typeface="Times New Roman" panose="02020603050405020304" pitchFamily="18" charset="0"/>
                <a:cs typeface="Times New Roman" panose="02020603050405020304" pitchFamily="18" charset="0"/>
              </a:rPr>
              <a:t>Introduction</a:t>
            </a:r>
          </a:p>
          <a:p>
            <a:pPr marL="342900" indent="-342900">
              <a:buAutoNum type="arabicPeriod"/>
            </a:pPr>
            <a:r>
              <a:rPr lang="en-IN" sz="2800" dirty="0">
                <a:latin typeface="Times New Roman" panose="02020603050405020304" pitchFamily="18" charset="0"/>
                <a:cs typeface="Times New Roman" panose="02020603050405020304" pitchFamily="18" charset="0"/>
              </a:rPr>
              <a:t>Problem Statement</a:t>
            </a:r>
          </a:p>
          <a:p>
            <a:pPr marL="342900" indent="-342900">
              <a:buAutoNum type="arabicPeriod"/>
            </a:pPr>
            <a:r>
              <a:rPr lang="en-IN" sz="2800" dirty="0">
                <a:latin typeface="Times New Roman" panose="02020603050405020304" pitchFamily="18" charset="0"/>
                <a:cs typeface="Times New Roman" panose="02020603050405020304" pitchFamily="18" charset="0"/>
              </a:rPr>
              <a:t>Existing System</a:t>
            </a:r>
          </a:p>
          <a:p>
            <a:pPr marL="342900" indent="-342900">
              <a:buAutoNum type="arabicPeriod"/>
            </a:pPr>
            <a:r>
              <a:rPr lang="en-IN" sz="2800" dirty="0">
                <a:latin typeface="Times New Roman" panose="02020603050405020304" pitchFamily="18" charset="0"/>
                <a:cs typeface="Times New Roman" panose="02020603050405020304" pitchFamily="18" charset="0"/>
              </a:rPr>
              <a:t>Our Solution</a:t>
            </a:r>
          </a:p>
          <a:p>
            <a:pPr marL="342900" indent="-342900">
              <a:buAutoNum type="arabicPeriod"/>
            </a:pPr>
            <a:r>
              <a:rPr lang="en-IN" sz="2800" dirty="0">
                <a:latin typeface="Times New Roman" panose="02020603050405020304" pitchFamily="18" charset="0"/>
                <a:cs typeface="Times New Roman" panose="02020603050405020304" pitchFamily="18" charset="0"/>
              </a:rPr>
              <a:t>Objectives</a:t>
            </a:r>
          </a:p>
          <a:p>
            <a:pPr marL="342900" indent="-342900">
              <a:buAutoNum type="arabicPeriod"/>
            </a:pPr>
            <a:r>
              <a:rPr lang="en-IN" sz="2800" dirty="0">
                <a:latin typeface="Times New Roman" panose="02020603050405020304" pitchFamily="18" charset="0"/>
                <a:cs typeface="Times New Roman" panose="02020603050405020304" pitchFamily="18" charset="0"/>
              </a:rPr>
              <a:t>Methodology</a:t>
            </a:r>
          </a:p>
          <a:p>
            <a:pPr marL="342900" indent="-342900">
              <a:buAutoNum type="arabicPeriod"/>
            </a:pPr>
            <a:r>
              <a:rPr lang="en-IN" sz="2800" dirty="0">
                <a:latin typeface="Times New Roman" panose="02020603050405020304" pitchFamily="18" charset="0"/>
                <a:cs typeface="Times New Roman" panose="02020603050405020304" pitchFamily="18" charset="0"/>
              </a:rPr>
              <a:t>System Architecture</a:t>
            </a:r>
          </a:p>
          <a:p>
            <a:pPr marL="342900" indent="-342900">
              <a:buAutoNum type="arabicPeriod"/>
            </a:pPr>
            <a:r>
              <a:rPr lang="en-IN" sz="2800" dirty="0">
                <a:latin typeface="Times New Roman" panose="02020603050405020304" pitchFamily="18" charset="0"/>
                <a:cs typeface="Times New Roman" panose="02020603050405020304" pitchFamily="18" charset="0"/>
              </a:rPr>
              <a:t>AI Models Used</a:t>
            </a:r>
          </a:p>
          <a:p>
            <a:pPr marL="342900" indent="-342900">
              <a:buAutoNum type="arabicPeriod"/>
            </a:pPr>
            <a:r>
              <a:rPr lang="en-IN" sz="2800" dirty="0">
                <a:latin typeface="Times New Roman" panose="02020603050405020304" pitchFamily="18" charset="0"/>
                <a:cs typeface="Times New Roman" panose="02020603050405020304" pitchFamily="18" charset="0"/>
              </a:rPr>
              <a:t>Results % Metrics</a:t>
            </a:r>
          </a:p>
          <a:p>
            <a:pPr marL="342900" indent="-342900">
              <a:buAutoNum type="arabicPeriod"/>
            </a:pPr>
            <a:r>
              <a:rPr lang="en-IN" sz="2800" dirty="0">
                <a:latin typeface="Times New Roman" panose="02020603050405020304" pitchFamily="18" charset="0"/>
                <a:cs typeface="Times New Roman" panose="02020603050405020304" pitchFamily="18" charset="0"/>
              </a:rPr>
              <a:t>Governance Impact</a:t>
            </a:r>
          </a:p>
          <a:p>
            <a:pPr marL="342900" indent="-342900">
              <a:buAutoNum type="arabicPeriod"/>
            </a:pPr>
            <a:r>
              <a:rPr lang="en-IN" sz="2800" dirty="0">
                <a:latin typeface="Times New Roman" panose="02020603050405020304" pitchFamily="18" charset="0"/>
                <a:cs typeface="Times New Roman" panose="02020603050405020304" pitchFamily="18" charset="0"/>
              </a:rPr>
              <a:t>Future Work</a:t>
            </a:r>
          </a:p>
          <a:p>
            <a:pPr marL="342900" indent="-342900">
              <a:buAutoNum type="arabicPeriod"/>
            </a:pPr>
            <a:r>
              <a:rPr lang="en-IN" sz="2800" dirty="0">
                <a:latin typeface="Times New Roman" panose="02020603050405020304" pitchFamily="18" charset="0"/>
                <a:cs typeface="Times New Roman" panose="02020603050405020304" pitchFamily="18" charset="0"/>
              </a:rPr>
              <a:t>Literature Survey</a:t>
            </a:r>
          </a:p>
          <a:p>
            <a:pPr marL="342900" indent="-342900">
              <a:buAutoNum type="arabicPeriod"/>
            </a:pPr>
            <a:r>
              <a:rPr lang="en-IN" sz="2800" dirty="0">
                <a:latin typeface="Times New Roman" panose="02020603050405020304" pitchFamily="18" charset="0"/>
                <a:cs typeface="Times New Roman" panose="02020603050405020304" pitchFamily="18" charset="0"/>
              </a:rPr>
              <a:t>Conclusion</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052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D333-6117-A9F4-0890-6E64C7BE611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CEA846C-8C64-1D1B-6EA3-2FC5073255AD}"/>
              </a:ext>
            </a:extLst>
          </p:cNvPr>
          <p:cNvSpPr/>
          <p:nvPr/>
        </p:nvSpPr>
        <p:spPr>
          <a:xfrm>
            <a:off x="5796327" y="971940"/>
            <a:ext cx="4825228" cy="739058"/>
          </a:xfrm>
          <a:prstGeom prst="rect">
            <a:avLst/>
          </a:prstGeom>
          <a:noFill/>
          <a:ln/>
        </p:spPr>
        <p:txBody>
          <a:bodyPr wrap="none" lIns="0" tIns="0" rIns="0" bIns="0" rtlCol="0" anchor="t"/>
          <a:lstStyle/>
          <a:p>
            <a:pPr marL="0" indent="0" algn="l">
              <a:lnSpc>
                <a:spcPts val="1450"/>
              </a:lnSpc>
              <a:buNone/>
            </a:pPr>
            <a:r>
              <a:rPr lang="en-US" sz="4000" dirty="0">
                <a:solidFill>
                  <a:srgbClr val="3C3939"/>
                </a:solidFill>
                <a:latin typeface="Roboto" pitchFamily="34" charset="0"/>
                <a:ea typeface="Roboto" pitchFamily="34" charset="-122"/>
                <a:cs typeface="Roboto" pitchFamily="34" charset="-120"/>
              </a:rPr>
              <a:t>Introduction</a:t>
            </a:r>
            <a:endParaRPr lang="en-US" sz="4000" dirty="0"/>
          </a:p>
        </p:txBody>
      </p:sp>
      <p:sp>
        <p:nvSpPr>
          <p:cNvPr id="21" name="Rectangle 20">
            <a:extLst>
              <a:ext uri="{FF2B5EF4-FFF2-40B4-BE49-F238E27FC236}">
                <a16:creationId xmlns:a16="http://schemas.microsoft.com/office/drawing/2014/main" id="{6B8402E6-9E5F-9950-2EFF-EADB1CE9E67D}"/>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1041766C-87E1-F4C1-C3BC-0B5B2F77E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8BC584D0-E50B-ED0A-4075-611E0CA87D57}"/>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5" name="TextBox 4">
            <a:extLst>
              <a:ext uri="{FF2B5EF4-FFF2-40B4-BE49-F238E27FC236}">
                <a16:creationId xmlns:a16="http://schemas.microsoft.com/office/drawing/2014/main" id="{EE04220F-902E-9D5D-0896-02032BC5010A}"/>
              </a:ext>
            </a:extLst>
          </p:cNvPr>
          <p:cNvSpPr txBox="1"/>
          <p:nvPr/>
        </p:nvSpPr>
        <p:spPr>
          <a:xfrm>
            <a:off x="481649" y="2226316"/>
            <a:ext cx="13667102" cy="4401205"/>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Rapid urbanization has placed increasing strain on civic infrastructure and municipal maintenance systems, exposing limitations in traditional grievance mechanisms such as helplines, paper-based forms, and static web portals. These systems often lack visual and geospatial context, resulting in delayed responses, inefficient resource allocation, and declining citizen trust. With the widespread adoption of smartphones and messaging platforms, there is a growing opportunity to transform citizens into active participants in urban governance. SnapFix addresses this challenge by providing an AI-driven, conversational reporting platform that enables residents to submit geo-tagged images and brief descriptions of civic issues, facilitating faster identification, prioritization, and resolution of urban infrastructure problems.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777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4744767" y="971940"/>
            <a:ext cx="4825228" cy="739058"/>
          </a:xfrm>
          <a:prstGeom prst="rect">
            <a:avLst/>
          </a:prstGeom>
          <a:noFill/>
          <a:ln/>
        </p:spPr>
        <p:txBody>
          <a:bodyPr wrap="none" lIns="0" tIns="0" rIns="0" bIns="0" rtlCol="0" anchor="t"/>
          <a:lstStyle/>
          <a:p>
            <a:pPr marL="0" indent="0" algn="l">
              <a:lnSpc>
                <a:spcPts val="1450"/>
              </a:lnSpc>
              <a:buNone/>
            </a:pPr>
            <a:r>
              <a:rPr lang="en-US" sz="4000" dirty="0">
                <a:solidFill>
                  <a:srgbClr val="3C3939"/>
                </a:solidFill>
                <a:latin typeface="Roboto" pitchFamily="34" charset="0"/>
                <a:ea typeface="Roboto" pitchFamily="34" charset="-122"/>
                <a:cs typeface="Roboto" pitchFamily="34" charset="-120"/>
              </a:rPr>
              <a:t>Problem Statement</a:t>
            </a:r>
            <a:endParaRPr lang="en-US" sz="4000" dirty="0"/>
          </a:p>
        </p:txBody>
      </p:sp>
      <p:sp>
        <p:nvSpPr>
          <p:cNvPr id="4" name="Text 2"/>
          <p:cNvSpPr/>
          <p:nvPr/>
        </p:nvSpPr>
        <p:spPr>
          <a:xfrm>
            <a:off x="3141466" y="2823522"/>
            <a:ext cx="4980980" cy="464106"/>
          </a:xfrm>
          <a:prstGeom prst="rect">
            <a:avLst/>
          </a:prstGeom>
          <a:noFill/>
          <a:ln/>
        </p:spPr>
        <p:txBody>
          <a:bodyPr wrap="none" lIns="0" tIns="0" rIns="0" bIns="0" rtlCol="0" anchor="t"/>
          <a:lstStyle/>
          <a:p>
            <a:pPr marL="0" indent="0" algn="l">
              <a:lnSpc>
                <a:spcPts val="3650"/>
              </a:lnSpc>
              <a:buNone/>
            </a:pPr>
            <a:r>
              <a:rPr lang="en-US" sz="2900" dirty="0">
                <a:solidFill>
                  <a:srgbClr val="1B1B27"/>
                </a:solidFill>
                <a:latin typeface="Raleway" pitchFamily="34" charset="0"/>
                <a:ea typeface="Raleway" pitchFamily="34" charset="-122"/>
                <a:cs typeface="Raleway" pitchFamily="34" charset="-120"/>
              </a:rPr>
              <a:t>The Urban Governance Crisis</a:t>
            </a:r>
            <a:endParaRPr lang="en-US" sz="2900" dirty="0"/>
          </a:p>
        </p:txBody>
      </p:sp>
      <p:sp>
        <p:nvSpPr>
          <p:cNvPr id="5" name="Text 3"/>
          <p:cNvSpPr/>
          <p:nvPr/>
        </p:nvSpPr>
        <p:spPr>
          <a:xfrm>
            <a:off x="706612" y="4424129"/>
            <a:ext cx="5685908" cy="950119"/>
          </a:xfrm>
          <a:prstGeom prst="rect">
            <a:avLst/>
          </a:prstGeom>
          <a:noFill/>
          <a:ln/>
        </p:spPr>
        <p:txBody>
          <a:bodyPr wrap="square" lIns="0" tIns="0" rIns="0" bIns="0" rtlCol="0" anchor="t"/>
          <a:lstStyle/>
          <a:p>
            <a:pPr marL="0" indent="0" algn="just">
              <a:lnSpc>
                <a:spcPts val="1850"/>
              </a:lnSpc>
              <a:buNone/>
            </a:pPr>
            <a:endParaRPr lang="en-US" sz="1600" dirty="0"/>
          </a:p>
        </p:txBody>
      </p:sp>
      <p:sp>
        <p:nvSpPr>
          <p:cNvPr id="8" name="Shape 5"/>
          <p:cNvSpPr/>
          <p:nvPr/>
        </p:nvSpPr>
        <p:spPr>
          <a:xfrm>
            <a:off x="10159185" y="1714067"/>
            <a:ext cx="3032284" cy="1361003"/>
          </a:xfrm>
          <a:prstGeom prst="roundRect">
            <a:avLst>
              <a:gd name="adj" fmla="val 5375"/>
            </a:avLst>
          </a:prstGeom>
          <a:solidFill>
            <a:srgbClr val="FFFFFF">
              <a:alpha val="95000"/>
            </a:srgbClr>
          </a:solidFill>
          <a:ln w="15240">
            <a:solidFill>
              <a:srgbClr val="C7C7D0"/>
            </a:solidFill>
            <a:prstDash val="solid"/>
          </a:ln>
        </p:spPr>
      </p:sp>
      <p:sp>
        <p:nvSpPr>
          <p:cNvPr id="9" name="Shape 6"/>
          <p:cNvSpPr/>
          <p:nvPr/>
        </p:nvSpPr>
        <p:spPr>
          <a:xfrm>
            <a:off x="10143945" y="1714067"/>
            <a:ext cx="60960" cy="1361003"/>
          </a:xfrm>
          <a:prstGeom prst="roundRect">
            <a:avLst>
              <a:gd name="adj" fmla="val 102326"/>
            </a:avLst>
          </a:prstGeom>
          <a:solidFill>
            <a:srgbClr val="1B1B27"/>
          </a:solidFill>
          <a:ln/>
        </p:spPr>
      </p:sp>
      <p:sp>
        <p:nvSpPr>
          <p:cNvPr id="10" name="Text 7"/>
          <p:cNvSpPr/>
          <p:nvPr/>
        </p:nvSpPr>
        <p:spPr>
          <a:xfrm>
            <a:off x="10368616" y="1877778"/>
            <a:ext cx="1856423" cy="231934"/>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Delayed Response</a:t>
            </a:r>
            <a:endParaRPr lang="en-US" sz="1450" dirty="0"/>
          </a:p>
        </p:txBody>
      </p:sp>
      <p:sp>
        <p:nvSpPr>
          <p:cNvPr id="11" name="Text 8"/>
          <p:cNvSpPr/>
          <p:nvPr/>
        </p:nvSpPr>
        <p:spPr>
          <a:xfrm>
            <a:off x="10368616" y="2198770"/>
            <a:ext cx="2659142" cy="475059"/>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Complaints face significant routing delays and processing bottlenecks</a:t>
            </a:r>
            <a:endParaRPr lang="en-US" sz="1150" dirty="0"/>
          </a:p>
        </p:txBody>
      </p:sp>
      <p:sp>
        <p:nvSpPr>
          <p:cNvPr id="12" name="Shape 9"/>
          <p:cNvSpPr/>
          <p:nvPr/>
        </p:nvSpPr>
        <p:spPr>
          <a:xfrm>
            <a:off x="10143945" y="3570924"/>
            <a:ext cx="3032284" cy="1361003"/>
          </a:xfrm>
          <a:prstGeom prst="roundRect">
            <a:avLst>
              <a:gd name="adj" fmla="val 5375"/>
            </a:avLst>
          </a:prstGeom>
          <a:solidFill>
            <a:srgbClr val="FFFFFF">
              <a:alpha val="95000"/>
            </a:srgbClr>
          </a:solidFill>
          <a:ln w="15240">
            <a:solidFill>
              <a:srgbClr val="C7C7D0"/>
            </a:solidFill>
            <a:prstDash val="solid"/>
          </a:ln>
        </p:spPr>
      </p:sp>
      <p:sp>
        <p:nvSpPr>
          <p:cNvPr id="13" name="Shape 10"/>
          <p:cNvSpPr/>
          <p:nvPr/>
        </p:nvSpPr>
        <p:spPr>
          <a:xfrm>
            <a:off x="10128705" y="3570924"/>
            <a:ext cx="60960" cy="1361003"/>
          </a:xfrm>
          <a:prstGeom prst="roundRect">
            <a:avLst>
              <a:gd name="adj" fmla="val 102326"/>
            </a:avLst>
          </a:prstGeom>
          <a:solidFill>
            <a:srgbClr val="1B1B27"/>
          </a:solidFill>
          <a:ln/>
        </p:spPr>
      </p:sp>
      <p:sp>
        <p:nvSpPr>
          <p:cNvPr id="14" name="Text 11"/>
          <p:cNvSpPr/>
          <p:nvPr/>
        </p:nvSpPr>
        <p:spPr>
          <a:xfrm>
            <a:off x="10353376" y="3734635"/>
            <a:ext cx="1856423" cy="231934"/>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Zero Transparency</a:t>
            </a:r>
            <a:endParaRPr lang="en-US" sz="1450" dirty="0"/>
          </a:p>
        </p:txBody>
      </p:sp>
      <p:sp>
        <p:nvSpPr>
          <p:cNvPr id="15" name="Text 12"/>
          <p:cNvSpPr/>
          <p:nvPr/>
        </p:nvSpPr>
        <p:spPr>
          <a:xfrm>
            <a:off x="10353376" y="4055627"/>
            <a:ext cx="2659142" cy="475059"/>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Citizens receive no visibility into complaint status or resolution timelines</a:t>
            </a:r>
            <a:endParaRPr lang="en-US" sz="1150" dirty="0"/>
          </a:p>
        </p:txBody>
      </p:sp>
      <p:sp>
        <p:nvSpPr>
          <p:cNvPr id="16" name="Shape 13"/>
          <p:cNvSpPr/>
          <p:nvPr/>
        </p:nvSpPr>
        <p:spPr>
          <a:xfrm>
            <a:off x="10141395" y="5374248"/>
            <a:ext cx="3032284" cy="1361003"/>
          </a:xfrm>
          <a:prstGeom prst="roundRect">
            <a:avLst>
              <a:gd name="adj" fmla="val 5375"/>
            </a:avLst>
          </a:prstGeom>
          <a:solidFill>
            <a:srgbClr val="FFFFFF">
              <a:alpha val="95000"/>
            </a:srgbClr>
          </a:solidFill>
          <a:ln w="15240">
            <a:solidFill>
              <a:srgbClr val="C7C7D0"/>
            </a:solidFill>
            <a:prstDash val="solid"/>
          </a:ln>
        </p:spPr>
      </p:sp>
      <p:sp>
        <p:nvSpPr>
          <p:cNvPr id="17" name="Shape 14"/>
          <p:cNvSpPr/>
          <p:nvPr/>
        </p:nvSpPr>
        <p:spPr>
          <a:xfrm>
            <a:off x="10126155" y="5374248"/>
            <a:ext cx="60960" cy="1361003"/>
          </a:xfrm>
          <a:prstGeom prst="roundRect">
            <a:avLst>
              <a:gd name="adj" fmla="val 102326"/>
            </a:avLst>
          </a:prstGeom>
          <a:solidFill>
            <a:srgbClr val="1B1B27"/>
          </a:solidFill>
          <a:ln/>
        </p:spPr>
      </p:sp>
      <p:sp>
        <p:nvSpPr>
          <p:cNvPr id="18" name="Text 15"/>
          <p:cNvSpPr/>
          <p:nvPr/>
        </p:nvSpPr>
        <p:spPr>
          <a:xfrm>
            <a:off x="10350826" y="5537959"/>
            <a:ext cx="1856423" cy="231934"/>
          </a:xfrm>
          <a:prstGeom prst="rect">
            <a:avLst/>
          </a:prstGeom>
          <a:noFill/>
          <a:ln/>
        </p:spPr>
        <p:txBody>
          <a:bodyPr wrap="none" lIns="0" tIns="0" rIns="0" bIns="0" rtlCol="0" anchor="t"/>
          <a:lstStyle/>
          <a:p>
            <a:pPr marL="0" indent="0" algn="l">
              <a:lnSpc>
                <a:spcPts val="1800"/>
              </a:lnSpc>
              <a:buNone/>
            </a:pPr>
            <a:r>
              <a:rPr lang="en-US" sz="1450" dirty="0">
                <a:solidFill>
                  <a:srgbClr val="3C3939"/>
                </a:solidFill>
                <a:latin typeface="Raleway" pitchFamily="34" charset="0"/>
                <a:ea typeface="Raleway" pitchFamily="34" charset="-122"/>
                <a:cs typeface="Raleway" pitchFamily="34" charset="-120"/>
              </a:rPr>
              <a:t>Data Overload</a:t>
            </a:r>
            <a:endParaRPr lang="en-US" sz="1450" dirty="0"/>
          </a:p>
        </p:txBody>
      </p:sp>
      <p:sp>
        <p:nvSpPr>
          <p:cNvPr id="19" name="Text 16"/>
          <p:cNvSpPr/>
          <p:nvPr/>
        </p:nvSpPr>
        <p:spPr>
          <a:xfrm>
            <a:off x="10350826" y="5858951"/>
            <a:ext cx="2659142" cy="712589"/>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Roboto" pitchFamily="34" charset="0"/>
                <a:ea typeface="Roboto" pitchFamily="34" charset="-122"/>
                <a:cs typeface="Roboto" pitchFamily="34" charset="-120"/>
              </a:rPr>
              <a:t>Municipal bodies drowning in unstructured data without prioritization tools</a:t>
            </a:r>
            <a:endParaRPr lang="en-US" sz="1150" dirty="0"/>
          </a:p>
        </p:txBody>
      </p:sp>
      <p:sp>
        <p:nvSpPr>
          <p:cNvPr id="21" name="Rectangle 20">
            <a:extLst>
              <a:ext uri="{FF2B5EF4-FFF2-40B4-BE49-F238E27FC236}">
                <a16:creationId xmlns:a16="http://schemas.microsoft.com/office/drawing/2014/main" id="{9B947215-062B-6C8A-D9F6-17AC8FC84FE0}"/>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FF345E17-5E30-9AEA-AF91-07167062B4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AB19BE15-BCF7-15FC-5D20-75A1C9A052C9}"/>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28" name="TextBox 27">
            <a:extLst>
              <a:ext uri="{FF2B5EF4-FFF2-40B4-BE49-F238E27FC236}">
                <a16:creationId xmlns:a16="http://schemas.microsoft.com/office/drawing/2014/main" id="{63A168D1-1C60-5522-35EA-7A4941ACB382}"/>
              </a:ext>
            </a:extLst>
          </p:cNvPr>
          <p:cNvSpPr txBox="1"/>
          <p:nvPr/>
        </p:nvSpPr>
        <p:spPr>
          <a:xfrm>
            <a:off x="1842219" y="3342923"/>
            <a:ext cx="7876450" cy="2031325"/>
          </a:xfrm>
          <a:prstGeom prst="rect">
            <a:avLst/>
          </a:prstGeom>
          <a:noFill/>
        </p:spPr>
        <p:txBody>
          <a:bodyPr wrap="square">
            <a:spAutoFit/>
          </a:bodyPr>
          <a:lstStyle/>
          <a:p>
            <a:pPr algn="just"/>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Urban citizens continue to face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recurring civic issues</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yet the existing grievance-redressal systems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remain slow, outdated, and highly manual</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The current channels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lack accessibility, transparency, and effective coordination</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between municipal departments, often resulting in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misrouted complaints, missing evidence,</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and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significant verification delays</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These inefficiencies lead to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delayed resolutions, low citizen engagement</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and a </a:t>
            </a:r>
            <a:r>
              <a:rPr lang="en-US" sz="1800" b="1" dirty="0">
                <a:solidFill>
                  <a:srgbClr val="000000"/>
                </a:solidFill>
                <a:latin typeface="Times New Roman" panose="02020603050405020304" pitchFamily="18" charset="0"/>
                <a:ea typeface="Calibri (MS) Bold"/>
                <a:cs typeface="Times New Roman" panose="02020603050405020304" pitchFamily="18" charset="0"/>
                <a:sym typeface="Calibri (MS) Bold"/>
              </a:rPr>
              <a:t>growing loss of trust</a:t>
            </a:r>
            <a:r>
              <a:rPr lang="en-US" sz="1800" dirty="0">
                <a:solidFill>
                  <a:srgbClr val="000000"/>
                </a:solidFill>
                <a:latin typeface="Times New Roman" panose="02020603050405020304" pitchFamily="18" charset="0"/>
                <a:ea typeface="Calibri (MS)"/>
                <a:cs typeface="Times New Roman" panose="02020603050405020304" pitchFamily="18" charset="0"/>
                <a:sym typeface="Calibri (MS)"/>
              </a:rPr>
              <a:t> in civic governance.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289524" y="576800"/>
            <a:ext cx="5859185" cy="600313"/>
          </a:xfrm>
          <a:prstGeom prst="rect">
            <a:avLst/>
          </a:prstGeom>
          <a:noFill/>
          <a:ln/>
        </p:spPr>
        <p:txBody>
          <a:bodyPr wrap="none" lIns="0" tIns="0" rIns="0" bIns="0" rtlCol="0" anchor="t"/>
          <a:lstStyle/>
          <a:p>
            <a:pPr marL="0" indent="0" algn="l">
              <a:lnSpc>
                <a:spcPts val="4700"/>
              </a:lnSpc>
              <a:buNone/>
            </a:pPr>
            <a:r>
              <a:rPr lang="en-US" sz="3750" dirty="0">
                <a:solidFill>
                  <a:srgbClr val="1B1B27"/>
                </a:solidFill>
                <a:latin typeface="Roboto" panose="02000000000000000000" pitchFamily="2" charset="0"/>
                <a:ea typeface="Roboto" panose="02000000000000000000" pitchFamily="2" charset="0"/>
                <a:cs typeface="Roboto" panose="02000000000000000000" pitchFamily="2" charset="0"/>
              </a:rPr>
              <a:t>Why Current System Fails?</a:t>
            </a:r>
            <a:endParaRPr lang="en-US" sz="3750"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1143654" y="2255463"/>
            <a:ext cx="12150923" cy="614839"/>
          </a:xfrm>
          <a:prstGeom prst="rect">
            <a:avLst/>
          </a:prstGeom>
          <a:noFill/>
          <a:ln/>
        </p:spPr>
        <p:txBody>
          <a:bodyPr wrap="square" lIns="0" tIns="0" rIns="0" bIns="0" rtlCol="0" anchor="t"/>
          <a:lstStyle/>
          <a:p>
            <a:pPr marL="0" indent="0" algn="l">
              <a:lnSpc>
                <a:spcPts val="2400"/>
              </a:lnSpc>
              <a:buNone/>
            </a:pPr>
            <a:r>
              <a:rPr lang="en-US" sz="2000" dirty="0">
                <a:solidFill>
                  <a:srgbClr val="3C3939"/>
                </a:solidFill>
                <a:latin typeface="Roboto" pitchFamily="34" charset="0"/>
                <a:ea typeface="Roboto" pitchFamily="34" charset="-122"/>
                <a:cs typeface="Roboto" pitchFamily="34" charset="-120"/>
              </a:rPr>
              <a:t>Traditional complaint channels—phone helplines, paper forms, municipal websites, and scattered social media posts—create a fragmented, inefficient ecosystem that fails both citizens and administrators.</a:t>
            </a:r>
            <a:endParaRPr lang="en-US" sz="2000" dirty="0"/>
          </a:p>
        </p:txBody>
      </p:sp>
      <p:sp>
        <p:nvSpPr>
          <p:cNvPr id="5" name="Shape 2"/>
          <p:cNvSpPr/>
          <p:nvPr/>
        </p:nvSpPr>
        <p:spPr>
          <a:xfrm>
            <a:off x="1029711" y="3159006"/>
            <a:ext cx="5989857" cy="1867276"/>
          </a:xfrm>
          <a:prstGeom prst="roundRect">
            <a:avLst>
              <a:gd name="adj" fmla="val 5644"/>
            </a:avLst>
          </a:prstGeom>
          <a:solidFill>
            <a:srgbClr val="E1E1EA"/>
          </a:solidFill>
          <a:ln w="7620">
            <a:solidFill>
              <a:srgbClr val="C7C7D0"/>
            </a:solidFill>
            <a:prstDash val="solid"/>
          </a:ln>
        </p:spPr>
      </p:sp>
      <p:sp>
        <p:nvSpPr>
          <p:cNvPr id="6" name="Text 3"/>
          <p:cNvSpPr/>
          <p:nvPr/>
        </p:nvSpPr>
        <p:spPr>
          <a:xfrm>
            <a:off x="1235614" y="3490438"/>
            <a:ext cx="2405437" cy="392056"/>
          </a:xfrm>
          <a:prstGeom prst="rect">
            <a:avLst/>
          </a:prstGeom>
          <a:noFill/>
          <a:ln/>
        </p:spPr>
        <p:txBody>
          <a:bodyPr wrap="none" lIns="0" tIns="0" rIns="0" bIns="0" rtlCol="0" anchor="t"/>
          <a:lstStyle/>
          <a:p>
            <a:pPr marL="0" indent="0" algn="l">
              <a:lnSpc>
                <a:spcPts val="2350"/>
              </a:lnSpc>
              <a:buNone/>
            </a:pPr>
            <a:r>
              <a:rPr lang="en-US" sz="2800" dirty="0">
                <a:solidFill>
                  <a:srgbClr val="3C3939"/>
                </a:solidFill>
                <a:latin typeface="Raleway" pitchFamily="34" charset="0"/>
                <a:ea typeface="Raleway" pitchFamily="34" charset="-122"/>
                <a:cs typeface="Raleway" pitchFamily="34" charset="-120"/>
              </a:rPr>
              <a:t>Manual Processing</a:t>
            </a:r>
            <a:endParaRPr lang="en-US" sz="2800" dirty="0"/>
          </a:p>
        </p:txBody>
      </p:sp>
      <p:sp>
        <p:nvSpPr>
          <p:cNvPr id="7" name="Text 4"/>
          <p:cNvSpPr/>
          <p:nvPr/>
        </p:nvSpPr>
        <p:spPr>
          <a:xfrm>
            <a:off x="1230075" y="4023531"/>
            <a:ext cx="5589825" cy="803083"/>
          </a:xfrm>
          <a:prstGeom prst="rect">
            <a:avLst/>
          </a:prstGeom>
          <a:noFill/>
          <a:ln/>
        </p:spPr>
        <p:txBody>
          <a:bodyPr wrap="square" lIns="0" tIns="0" rIns="0" bIns="0" rtlCol="0" anchor="t"/>
          <a:lstStyle/>
          <a:p>
            <a:pPr marL="0" indent="0" algn="l">
              <a:lnSpc>
                <a:spcPts val="2400"/>
              </a:lnSpc>
              <a:buNone/>
            </a:pPr>
            <a:r>
              <a:rPr lang="en-US" sz="2000" dirty="0">
                <a:solidFill>
                  <a:srgbClr val="3C3939"/>
                </a:solidFill>
                <a:latin typeface="Roboto" pitchFamily="34" charset="0"/>
                <a:ea typeface="Roboto" pitchFamily="34" charset="-122"/>
                <a:cs typeface="Roboto" pitchFamily="34" charset="-120"/>
              </a:rPr>
              <a:t>Every complaint requires human categorization and routing, creating bottlenecks and inconsistencies</a:t>
            </a:r>
            <a:endParaRPr lang="en-US" sz="2000" dirty="0"/>
          </a:p>
        </p:txBody>
      </p:sp>
      <p:sp>
        <p:nvSpPr>
          <p:cNvPr id="8" name="Shape 5"/>
          <p:cNvSpPr/>
          <p:nvPr/>
        </p:nvSpPr>
        <p:spPr>
          <a:xfrm>
            <a:off x="7589995" y="3159006"/>
            <a:ext cx="5989857" cy="1921787"/>
          </a:xfrm>
          <a:prstGeom prst="roundRect">
            <a:avLst>
              <a:gd name="adj" fmla="val 5644"/>
            </a:avLst>
          </a:prstGeom>
          <a:solidFill>
            <a:srgbClr val="E1E1EA"/>
          </a:solidFill>
          <a:ln w="7620">
            <a:solidFill>
              <a:srgbClr val="C7C7D0"/>
            </a:solidFill>
            <a:prstDash val="solid"/>
          </a:ln>
        </p:spPr>
      </p:sp>
      <p:sp>
        <p:nvSpPr>
          <p:cNvPr id="9" name="Text 6"/>
          <p:cNvSpPr/>
          <p:nvPr/>
        </p:nvSpPr>
        <p:spPr>
          <a:xfrm>
            <a:off x="7795898" y="3444887"/>
            <a:ext cx="2405437" cy="403501"/>
          </a:xfrm>
          <a:prstGeom prst="rect">
            <a:avLst/>
          </a:prstGeom>
          <a:noFill/>
          <a:ln/>
        </p:spPr>
        <p:txBody>
          <a:bodyPr wrap="none" lIns="0" tIns="0" rIns="0" bIns="0" rtlCol="0" anchor="t"/>
          <a:lstStyle/>
          <a:p>
            <a:pPr marL="0" indent="0" algn="l">
              <a:lnSpc>
                <a:spcPts val="2350"/>
              </a:lnSpc>
              <a:buNone/>
            </a:pPr>
            <a:r>
              <a:rPr lang="en-US" sz="2800" dirty="0">
                <a:solidFill>
                  <a:srgbClr val="3C3939"/>
                </a:solidFill>
                <a:latin typeface="Raleway" pitchFamily="34" charset="0"/>
                <a:ea typeface="Raleway" pitchFamily="34" charset="-122"/>
                <a:cs typeface="Raleway" pitchFamily="34" charset="-120"/>
              </a:rPr>
              <a:t>No Verification</a:t>
            </a:r>
            <a:endParaRPr lang="en-US" sz="2800" dirty="0"/>
          </a:p>
        </p:txBody>
      </p:sp>
      <p:sp>
        <p:nvSpPr>
          <p:cNvPr id="10" name="Text 7"/>
          <p:cNvSpPr/>
          <p:nvPr/>
        </p:nvSpPr>
        <p:spPr>
          <a:xfrm>
            <a:off x="7790359" y="4054599"/>
            <a:ext cx="5589825" cy="826527"/>
          </a:xfrm>
          <a:prstGeom prst="rect">
            <a:avLst/>
          </a:prstGeom>
          <a:noFill/>
          <a:ln/>
        </p:spPr>
        <p:txBody>
          <a:bodyPr wrap="square" lIns="0" tIns="0" rIns="0" bIns="0" rtlCol="0" anchor="t"/>
          <a:lstStyle/>
          <a:p>
            <a:pPr marL="0" indent="0" algn="l">
              <a:lnSpc>
                <a:spcPts val="2400"/>
              </a:lnSpc>
              <a:buNone/>
            </a:pPr>
            <a:r>
              <a:rPr lang="en-US" sz="2000" dirty="0">
                <a:solidFill>
                  <a:srgbClr val="3C3939"/>
                </a:solidFill>
                <a:latin typeface="Roboto" pitchFamily="34" charset="0"/>
                <a:ea typeface="Roboto" pitchFamily="34" charset="-122"/>
                <a:cs typeface="Roboto" pitchFamily="34" charset="-120"/>
              </a:rPr>
              <a:t>Without automated image analysis, false or duplicate reports consume valuable municipal resources</a:t>
            </a:r>
            <a:endParaRPr lang="en-US" sz="2000" dirty="0"/>
          </a:p>
        </p:txBody>
      </p:sp>
      <p:sp>
        <p:nvSpPr>
          <p:cNvPr id="11" name="Shape 8"/>
          <p:cNvSpPr/>
          <p:nvPr/>
        </p:nvSpPr>
        <p:spPr>
          <a:xfrm>
            <a:off x="1040130" y="5541229"/>
            <a:ext cx="5989857" cy="1867276"/>
          </a:xfrm>
          <a:prstGeom prst="roundRect">
            <a:avLst>
              <a:gd name="adj" fmla="val 5644"/>
            </a:avLst>
          </a:prstGeom>
          <a:solidFill>
            <a:srgbClr val="E1E1EA"/>
          </a:solidFill>
          <a:ln w="7620">
            <a:solidFill>
              <a:srgbClr val="C7C7D0"/>
            </a:solidFill>
            <a:prstDash val="solid"/>
          </a:ln>
        </p:spPr>
      </p:sp>
      <p:sp>
        <p:nvSpPr>
          <p:cNvPr id="12" name="Text 9"/>
          <p:cNvSpPr/>
          <p:nvPr/>
        </p:nvSpPr>
        <p:spPr>
          <a:xfrm>
            <a:off x="1240494" y="5858528"/>
            <a:ext cx="2401253" cy="300157"/>
          </a:xfrm>
          <a:prstGeom prst="rect">
            <a:avLst/>
          </a:prstGeom>
          <a:noFill/>
          <a:ln/>
        </p:spPr>
        <p:txBody>
          <a:bodyPr wrap="none" lIns="0" tIns="0" rIns="0" bIns="0" rtlCol="0" anchor="t"/>
          <a:lstStyle/>
          <a:p>
            <a:pPr marL="0" indent="0" algn="l">
              <a:lnSpc>
                <a:spcPts val="2350"/>
              </a:lnSpc>
              <a:buNone/>
            </a:pPr>
            <a:r>
              <a:rPr lang="en-US" sz="2800" dirty="0">
                <a:solidFill>
                  <a:srgbClr val="3C3939"/>
                </a:solidFill>
                <a:latin typeface="Raleway" pitchFamily="34" charset="0"/>
                <a:ea typeface="Raleway" pitchFamily="34" charset="-122"/>
                <a:cs typeface="Raleway" pitchFamily="34" charset="-120"/>
              </a:rPr>
              <a:t>Poor Tracking</a:t>
            </a:r>
            <a:endParaRPr lang="en-US" sz="2800" dirty="0"/>
          </a:p>
        </p:txBody>
      </p:sp>
      <p:sp>
        <p:nvSpPr>
          <p:cNvPr id="13" name="Text 10"/>
          <p:cNvSpPr/>
          <p:nvPr/>
        </p:nvSpPr>
        <p:spPr>
          <a:xfrm>
            <a:off x="1240494" y="6405754"/>
            <a:ext cx="5589825" cy="803083"/>
          </a:xfrm>
          <a:prstGeom prst="rect">
            <a:avLst/>
          </a:prstGeom>
          <a:noFill/>
          <a:ln/>
        </p:spPr>
        <p:txBody>
          <a:bodyPr wrap="square" lIns="0" tIns="0" rIns="0" bIns="0" rtlCol="0" anchor="t"/>
          <a:lstStyle/>
          <a:p>
            <a:pPr marL="0" indent="0" algn="l">
              <a:lnSpc>
                <a:spcPts val="2400"/>
              </a:lnSpc>
              <a:buNone/>
            </a:pPr>
            <a:r>
              <a:rPr lang="en-US" sz="2000" dirty="0">
                <a:solidFill>
                  <a:srgbClr val="3C3939"/>
                </a:solidFill>
                <a:latin typeface="Roboto" pitchFamily="34" charset="0"/>
                <a:ea typeface="Roboto" pitchFamily="34" charset="-122"/>
                <a:cs typeface="Roboto" pitchFamily="34" charset="-120"/>
              </a:rPr>
              <a:t>Weak feedback loops leave citizens in the dark and reduce trust in government responsiveness</a:t>
            </a:r>
            <a:endParaRPr lang="en-US" sz="2000" dirty="0"/>
          </a:p>
        </p:txBody>
      </p:sp>
      <p:sp>
        <p:nvSpPr>
          <p:cNvPr id="14" name="Shape 11"/>
          <p:cNvSpPr/>
          <p:nvPr/>
        </p:nvSpPr>
        <p:spPr>
          <a:xfrm>
            <a:off x="7610831" y="5564466"/>
            <a:ext cx="5969021" cy="1867275"/>
          </a:xfrm>
          <a:prstGeom prst="roundRect">
            <a:avLst>
              <a:gd name="adj" fmla="val 5644"/>
            </a:avLst>
          </a:prstGeom>
          <a:solidFill>
            <a:srgbClr val="E1E1EA"/>
          </a:solidFill>
          <a:ln w="7620">
            <a:solidFill>
              <a:srgbClr val="C7C7D0"/>
            </a:solidFill>
            <a:prstDash val="solid"/>
          </a:ln>
        </p:spPr>
      </p:sp>
      <p:sp>
        <p:nvSpPr>
          <p:cNvPr id="15" name="Text 12"/>
          <p:cNvSpPr/>
          <p:nvPr/>
        </p:nvSpPr>
        <p:spPr>
          <a:xfrm>
            <a:off x="7814683" y="5837269"/>
            <a:ext cx="2397070" cy="392055"/>
          </a:xfrm>
          <a:prstGeom prst="rect">
            <a:avLst/>
          </a:prstGeom>
          <a:noFill/>
          <a:ln/>
        </p:spPr>
        <p:txBody>
          <a:bodyPr wrap="none" lIns="0" tIns="0" rIns="0" bIns="0" rtlCol="0" anchor="t"/>
          <a:lstStyle/>
          <a:p>
            <a:pPr marL="0" indent="0" algn="l">
              <a:lnSpc>
                <a:spcPts val="2350"/>
              </a:lnSpc>
              <a:buNone/>
            </a:pPr>
            <a:r>
              <a:rPr lang="en-US" sz="2800" dirty="0">
                <a:solidFill>
                  <a:srgbClr val="3C3939"/>
                </a:solidFill>
                <a:latin typeface="Raleway" pitchFamily="34" charset="0"/>
                <a:ea typeface="Raleway" pitchFamily="34" charset="-122"/>
                <a:cs typeface="Raleway" pitchFamily="34" charset="-120"/>
              </a:rPr>
              <a:t>Reactive Governance</a:t>
            </a:r>
            <a:endParaRPr lang="en-US" sz="2800" dirty="0"/>
          </a:p>
        </p:txBody>
      </p:sp>
      <p:sp>
        <p:nvSpPr>
          <p:cNvPr id="16" name="Text 13"/>
          <p:cNvSpPr/>
          <p:nvPr/>
        </p:nvSpPr>
        <p:spPr>
          <a:xfrm>
            <a:off x="7809803" y="6428991"/>
            <a:ext cx="5570381" cy="803083"/>
          </a:xfrm>
          <a:prstGeom prst="rect">
            <a:avLst/>
          </a:prstGeom>
          <a:noFill/>
          <a:ln/>
        </p:spPr>
        <p:txBody>
          <a:bodyPr wrap="square" lIns="0" tIns="0" rIns="0" bIns="0" rtlCol="0" anchor="t"/>
          <a:lstStyle/>
          <a:p>
            <a:pPr marL="0" indent="0" algn="l">
              <a:lnSpc>
                <a:spcPts val="2400"/>
              </a:lnSpc>
              <a:buNone/>
            </a:pPr>
            <a:r>
              <a:rPr lang="en-US" sz="2000" dirty="0">
                <a:solidFill>
                  <a:srgbClr val="3C3939"/>
                </a:solidFill>
                <a:latin typeface="Roboto" pitchFamily="34" charset="0"/>
                <a:ea typeface="Roboto" pitchFamily="34" charset="-122"/>
                <a:cs typeface="Roboto" pitchFamily="34" charset="-120"/>
              </a:rPr>
              <a:t>Unstructured data prevents proactive maintenance and data-driven resource allocation</a:t>
            </a:r>
            <a:endParaRPr lang="en-US" sz="2000" dirty="0"/>
          </a:p>
        </p:txBody>
      </p:sp>
      <p:pic>
        <p:nvPicPr>
          <p:cNvPr id="1026" name="Picture 2" descr="RV College of Engineering Bengaluru | Top Engineering Institution">
            <a:extLst>
              <a:ext uri="{FF2B5EF4-FFF2-40B4-BE49-F238E27FC236}">
                <a16:creationId xmlns:a16="http://schemas.microsoft.com/office/drawing/2014/main" id="{4F43AD77-A812-F2E6-EEE9-9A1285B656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E89BACC-D5B7-1690-77D3-D2805F3BD2D9}"/>
              </a:ext>
            </a:extLst>
          </p:cNvPr>
          <p:cNvSpPr txBox="1"/>
          <p:nvPr/>
        </p:nvSpPr>
        <p:spPr>
          <a:xfrm>
            <a:off x="11898411" y="344210"/>
            <a:ext cx="2531327"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22" name="Rectangle 21">
            <a:extLst>
              <a:ext uri="{FF2B5EF4-FFF2-40B4-BE49-F238E27FC236}">
                <a16:creationId xmlns:a16="http://schemas.microsoft.com/office/drawing/2014/main" id="{54FCA22E-2A08-CD80-FF47-C08D85ECB2D4}"/>
              </a:ext>
            </a:extLst>
          </p:cNvPr>
          <p:cNvSpPr/>
          <p:nvPr/>
        </p:nvSpPr>
        <p:spPr>
          <a:xfrm>
            <a:off x="12801600" y="7778187"/>
            <a:ext cx="1828800" cy="3693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1"/>
          <p:cNvSpPr/>
          <p:nvPr/>
        </p:nvSpPr>
        <p:spPr>
          <a:xfrm>
            <a:off x="5334230" y="718933"/>
            <a:ext cx="2546543" cy="304371"/>
          </a:xfrm>
          <a:prstGeom prst="rect">
            <a:avLst/>
          </a:prstGeom>
          <a:noFill/>
          <a:ln/>
        </p:spPr>
        <p:txBody>
          <a:bodyPr wrap="none" lIns="0" tIns="0" rIns="0" bIns="0" rtlCol="0" anchor="t"/>
          <a:lstStyle/>
          <a:p>
            <a:pPr marL="0" indent="0" algn="l">
              <a:lnSpc>
                <a:spcPts val="1250"/>
              </a:lnSpc>
              <a:buNone/>
            </a:pPr>
            <a:r>
              <a:rPr lang="en-US" sz="3600" dirty="0">
                <a:solidFill>
                  <a:srgbClr val="3C3939"/>
                </a:solidFill>
                <a:latin typeface="Roboto" pitchFamily="34" charset="0"/>
                <a:ea typeface="Roboto" pitchFamily="34" charset="-122"/>
                <a:cs typeface="Roboto" pitchFamily="34" charset="-120"/>
              </a:rPr>
              <a:t>OUR  SOLUTION</a:t>
            </a:r>
            <a:endParaRPr lang="en-US" sz="3600" dirty="0"/>
          </a:p>
        </p:txBody>
      </p:sp>
      <p:sp>
        <p:nvSpPr>
          <p:cNvPr id="5" name="Text 2"/>
          <p:cNvSpPr/>
          <p:nvPr/>
        </p:nvSpPr>
        <p:spPr>
          <a:xfrm>
            <a:off x="3564695" y="2159284"/>
            <a:ext cx="4637519" cy="401241"/>
          </a:xfrm>
          <a:prstGeom prst="rect">
            <a:avLst/>
          </a:prstGeom>
          <a:noFill/>
          <a:ln/>
        </p:spPr>
        <p:txBody>
          <a:bodyPr wrap="none" lIns="0" tIns="0" rIns="0" bIns="0" rtlCol="0" anchor="t"/>
          <a:lstStyle/>
          <a:p>
            <a:pPr marL="0" indent="0" algn="just">
              <a:lnSpc>
                <a:spcPts val="3150"/>
              </a:lnSpc>
              <a:buNone/>
            </a:pPr>
            <a:endParaRPr lang="en-US" sz="4400" dirty="0"/>
          </a:p>
        </p:txBody>
      </p:sp>
      <p:sp>
        <p:nvSpPr>
          <p:cNvPr id="6" name="Text 3"/>
          <p:cNvSpPr/>
          <p:nvPr/>
        </p:nvSpPr>
        <p:spPr>
          <a:xfrm>
            <a:off x="2832410" y="1567115"/>
            <a:ext cx="5763187" cy="1362075"/>
          </a:xfrm>
          <a:prstGeom prst="rect">
            <a:avLst/>
          </a:prstGeom>
          <a:noFill/>
          <a:ln/>
        </p:spPr>
        <p:txBody>
          <a:bodyPr wrap="square" lIns="0" tIns="0" rIns="0" bIns="0" rtlCol="0" anchor="t"/>
          <a:lstStyle/>
          <a:p>
            <a:pPr marL="0" indent="0" algn="just">
              <a:buNone/>
            </a:pPr>
            <a:r>
              <a:rPr lang="en-US" sz="2800" dirty="0">
                <a:solidFill>
                  <a:srgbClr val="3C3939"/>
                </a:solidFill>
                <a:latin typeface="Times New Roman" panose="02020603050405020304" pitchFamily="18" charset="0"/>
                <a:ea typeface="Roboto" pitchFamily="34" charset="-122"/>
                <a:cs typeface="Times New Roman" panose="02020603050405020304" pitchFamily="18" charset="0"/>
              </a:rPr>
              <a:t>SnapFix</a:t>
            </a: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 is an AI-powered, citizen-centric reporting platform that transforms how municipalities handle infrastructure complaints. Citizens simply report issues through a conversational Telegram chatbot—no apps to download, no complex forms to fill.</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2818779" y="3435180"/>
            <a:ext cx="5776818" cy="1273626"/>
          </a:xfrm>
          <a:prstGeom prst="rect">
            <a:avLst/>
          </a:prstGeom>
          <a:noFill/>
          <a:ln/>
        </p:spPr>
        <p:txBody>
          <a:bodyPr wrap="square" lIns="0" tIns="0" rIns="0" bIns="0" rtlCol="0" anchor="t"/>
          <a:lstStyle/>
          <a:p>
            <a:pPr marL="0" indent="0" algn="just">
              <a:buNone/>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The system intelligently processes every submission, automatically classifying issues, detecting urgency levels, and routing complaints to the appropriate departments. Real-time status tracking keeps citizens informed every step of the way.</a:t>
            </a:r>
            <a:endParaRPr lang="en-US" sz="2000" dirty="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r:embed="rId3"/>
          <a:stretch>
            <a:fillRect/>
          </a:stretch>
        </p:blipFill>
        <p:spPr>
          <a:xfrm>
            <a:off x="9861455" y="1491722"/>
            <a:ext cx="3895372" cy="3895372"/>
          </a:xfrm>
          <a:prstGeom prst="rect">
            <a:avLst/>
          </a:prstGeom>
        </p:spPr>
      </p:pic>
      <p:sp>
        <p:nvSpPr>
          <p:cNvPr id="9" name="Text 5"/>
          <p:cNvSpPr/>
          <p:nvPr/>
        </p:nvSpPr>
        <p:spPr>
          <a:xfrm>
            <a:off x="1085431" y="5489726"/>
            <a:ext cx="128349" cy="160496"/>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aleway Light" pitchFamily="34" charset="0"/>
                <a:ea typeface="Raleway Light" pitchFamily="34" charset="-122"/>
                <a:cs typeface="Raleway Light" pitchFamily="34" charset="-120"/>
              </a:rPr>
              <a:t>01</a:t>
            </a:r>
            <a:endParaRPr lang="en-US" sz="1400" dirty="0"/>
          </a:p>
        </p:txBody>
      </p:sp>
      <p:sp>
        <p:nvSpPr>
          <p:cNvPr id="10" name="Shape 6"/>
          <p:cNvSpPr/>
          <p:nvPr/>
        </p:nvSpPr>
        <p:spPr>
          <a:xfrm>
            <a:off x="1085431" y="5692608"/>
            <a:ext cx="3996571" cy="15240"/>
          </a:xfrm>
          <a:prstGeom prst="rect">
            <a:avLst/>
          </a:prstGeom>
          <a:solidFill>
            <a:srgbClr val="1B1B27"/>
          </a:solidFill>
          <a:ln/>
        </p:spPr>
      </p:sp>
      <p:sp>
        <p:nvSpPr>
          <p:cNvPr id="11" name="Text 7"/>
          <p:cNvSpPr/>
          <p:nvPr/>
        </p:nvSpPr>
        <p:spPr>
          <a:xfrm>
            <a:off x="1085431" y="5787263"/>
            <a:ext cx="1604963" cy="200620"/>
          </a:xfrm>
          <a:prstGeom prst="rect">
            <a:avLst/>
          </a:prstGeom>
          <a:noFill/>
          <a:ln/>
        </p:spPr>
        <p:txBody>
          <a:bodyPr wrap="none" lIns="0" tIns="0" rIns="0" bIns="0" rtlCol="0" anchor="t"/>
          <a:lstStyle/>
          <a:p>
            <a:pPr marL="0" indent="0" algn="l">
              <a:lnSpc>
                <a:spcPts val="1550"/>
              </a:lnSpc>
              <a:buNone/>
            </a:pPr>
            <a:r>
              <a:rPr lang="en-US" sz="2000" dirty="0">
                <a:solidFill>
                  <a:srgbClr val="3C3939"/>
                </a:solidFill>
                <a:latin typeface="Raleway" pitchFamily="34" charset="0"/>
                <a:ea typeface="Raleway" pitchFamily="34" charset="-122"/>
                <a:cs typeface="Raleway" pitchFamily="34" charset="-120"/>
              </a:rPr>
              <a:t>Citizen Reports</a:t>
            </a:r>
            <a:endParaRPr lang="en-US" sz="2000" dirty="0"/>
          </a:p>
        </p:txBody>
      </p:sp>
      <p:sp>
        <p:nvSpPr>
          <p:cNvPr id="12" name="Text 8"/>
          <p:cNvSpPr/>
          <p:nvPr/>
        </p:nvSpPr>
        <p:spPr>
          <a:xfrm>
            <a:off x="1085431" y="6064917"/>
            <a:ext cx="3996571" cy="205264"/>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oboto" pitchFamily="34" charset="0"/>
                <a:ea typeface="Roboto" pitchFamily="34" charset="-122"/>
                <a:cs typeface="Roboto" pitchFamily="34" charset="-120"/>
              </a:rPr>
              <a:t>Submit geo-tagged photos and brief descriptions via Telegram</a:t>
            </a:r>
            <a:endParaRPr lang="en-US" sz="1400" dirty="0"/>
          </a:p>
        </p:txBody>
      </p:sp>
      <p:sp>
        <p:nvSpPr>
          <p:cNvPr id="13" name="Text 9"/>
          <p:cNvSpPr/>
          <p:nvPr/>
        </p:nvSpPr>
        <p:spPr>
          <a:xfrm>
            <a:off x="6871884" y="5482209"/>
            <a:ext cx="128349" cy="160496"/>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aleway Light" pitchFamily="34" charset="0"/>
                <a:ea typeface="Raleway Light" pitchFamily="34" charset="-122"/>
                <a:cs typeface="Raleway Light" pitchFamily="34" charset="-120"/>
              </a:rPr>
              <a:t>02</a:t>
            </a:r>
            <a:endParaRPr lang="en-US" sz="1400" dirty="0"/>
          </a:p>
        </p:txBody>
      </p:sp>
      <p:sp>
        <p:nvSpPr>
          <p:cNvPr id="14" name="Shape 10"/>
          <p:cNvSpPr/>
          <p:nvPr/>
        </p:nvSpPr>
        <p:spPr>
          <a:xfrm>
            <a:off x="6871883" y="5685091"/>
            <a:ext cx="3996571" cy="15240"/>
          </a:xfrm>
          <a:prstGeom prst="rect">
            <a:avLst/>
          </a:prstGeom>
          <a:solidFill>
            <a:srgbClr val="1B1B27"/>
          </a:solidFill>
          <a:ln/>
        </p:spPr>
      </p:sp>
      <p:sp>
        <p:nvSpPr>
          <p:cNvPr id="15" name="Text 11"/>
          <p:cNvSpPr/>
          <p:nvPr/>
        </p:nvSpPr>
        <p:spPr>
          <a:xfrm>
            <a:off x="6871884" y="5779746"/>
            <a:ext cx="1604963" cy="200620"/>
          </a:xfrm>
          <a:prstGeom prst="rect">
            <a:avLst/>
          </a:prstGeom>
          <a:noFill/>
          <a:ln/>
        </p:spPr>
        <p:txBody>
          <a:bodyPr wrap="none" lIns="0" tIns="0" rIns="0" bIns="0" rtlCol="0" anchor="t"/>
          <a:lstStyle/>
          <a:p>
            <a:pPr marL="0" indent="0" algn="l">
              <a:lnSpc>
                <a:spcPts val="1550"/>
              </a:lnSpc>
              <a:buNone/>
            </a:pPr>
            <a:r>
              <a:rPr lang="en-US" sz="2000" dirty="0">
                <a:solidFill>
                  <a:srgbClr val="3C3939"/>
                </a:solidFill>
                <a:latin typeface="Raleway" pitchFamily="34" charset="0"/>
                <a:ea typeface="Raleway" pitchFamily="34" charset="-122"/>
                <a:cs typeface="Raleway" pitchFamily="34" charset="-120"/>
              </a:rPr>
              <a:t>AI Processes</a:t>
            </a:r>
            <a:endParaRPr lang="en-US" sz="2000" dirty="0"/>
          </a:p>
        </p:txBody>
      </p:sp>
      <p:sp>
        <p:nvSpPr>
          <p:cNvPr id="16" name="Text 12"/>
          <p:cNvSpPr/>
          <p:nvPr/>
        </p:nvSpPr>
        <p:spPr>
          <a:xfrm>
            <a:off x="6871884" y="6057400"/>
            <a:ext cx="3996571" cy="205264"/>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oboto" pitchFamily="34" charset="0"/>
                <a:ea typeface="Roboto" pitchFamily="34" charset="-122"/>
                <a:cs typeface="Roboto" pitchFamily="34" charset="-120"/>
              </a:rPr>
              <a:t>Automated classification, urgency detection, and smart routing</a:t>
            </a:r>
            <a:endParaRPr lang="en-US" sz="1400" dirty="0"/>
          </a:p>
        </p:txBody>
      </p:sp>
      <p:sp>
        <p:nvSpPr>
          <p:cNvPr id="17" name="Text 13"/>
          <p:cNvSpPr/>
          <p:nvPr/>
        </p:nvSpPr>
        <p:spPr>
          <a:xfrm>
            <a:off x="1085431" y="6494732"/>
            <a:ext cx="128349" cy="160496"/>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aleway Light" pitchFamily="34" charset="0"/>
                <a:ea typeface="Raleway Light" pitchFamily="34" charset="-122"/>
                <a:cs typeface="Raleway Light" pitchFamily="34" charset="-120"/>
              </a:rPr>
              <a:t>03</a:t>
            </a:r>
            <a:endParaRPr lang="en-US" sz="1400" dirty="0"/>
          </a:p>
        </p:txBody>
      </p:sp>
      <p:sp>
        <p:nvSpPr>
          <p:cNvPr id="18" name="Shape 14"/>
          <p:cNvSpPr/>
          <p:nvPr/>
        </p:nvSpPr>
        <p:spPr>
          <a:xfrm>
            <a:off x="1085431" y="6697615"/>
            <a:ext cx="3996571" cy="15240"/>
          </a:xfrm>
          <a:prstGeom prst="rect">
            <a:avLst/>
          </a:prstGeom>
          <a:solidFill>
            <a:srgbClr val="1B1B27"/>
          </a:solidFill>
          <a:ln/>
        </p:spPr>
      </p:sp>
      <p:sp>
        <p:nvSpPr>
          <p:cNvPr id="19" name="Text 15"/>
          <p:cNvSpPr/>
          <p:nvPr/>
        </p:nvSpPr>
        <p:spPr>
          <a:xfrm>
            <a:off x="1085431" y="6792270"/>
            <a:ext cx="1604963" cy="200620"/>
          </a:xfrm>
          <a:prstGeom prst="rect">
            <a:avLst/>
          </a:prstGeom>
          <a:noFill/>
          <a:ln/>
        </p:spPr>
        <p:txBody>
          <a:bodyPr wrap="none" lIns="0" tIns="0" rIns="0" bIns="0" rtlCol="0" anchor="t"/>
          <a:lstStyle/>
          <a:p>
            <a:pPr marL="0" indent="0" algn="l">
              <a:lnSpc>
                <a:spcPts val="1550"/>
              </a:lnSpc>
              <a:buNone/>
            </a:pPr>
            <a:r>
              <a:rPr lang="en-US" sz="2000" dirty="0">
                <a:solidFill>
                  <a:srgbClr val="3C3939"/>
                </a:solidFill>
                <a:latin typeface="Raleway" pitchFamily="34" charset="0"/>
                <a:ea typeface="Raleway" pitchFamily="34" charset="-122"/>
                <a:cs typeface="Raleway" pitchFamily="34" charset="-120"/>
              </a:rPr>
              <a:t>Department Acts</a:t>
            </a:r>
            <a:endParaRPr lang="en-US" sz="2000" dirty="0"/>
          </a:p>
        </p:txBody>
      </p:sp>
      <p:sp>
        <p:nvSpPr>
          <p:cNvPr id="20" name="Text 16"/>
          <p:cNvSpPr/>
          <p:nvPr/>
        </p:nvSpPr>
        <p:spPr>
          <a:xfrm>
            <a:off x="1085431" y="7069923"/>
            <a:ext cx="3996571" cy="205264"/>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oboto" pitchFamily="34" charset="0"/>
                <a:ea typeface="Roboto" pitchFamily="34" charset="-122"/>
                <a:cs typeface="Roboto" pitchFamily="34" charset="-120"/>
              </a:rPr>
              <a:t>Officials receive prioritized, actionable complaints with full context</a:t>
            </a:r>
            <a:endParaRPr lang="en-US" sz="1400" dirty="0"/>
          </a:p>
        </p:txBody>
      </p:sp>
      <p:sp>
        <p:nvSpPr>
          <p:cNvPr id="21" name="Text 17"/>
          <p:cNvSpPr/>
          <p:nvPr/>
        </p:nvSpPr>
        <p:spPr>
          <a:xfrm>
            <a:off x="6871884" y="6487215"/>
            <a:ext cx="128349" cy="160496"/>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aleway Light" pitchFamily="34" charset="0"/>
                <a:ea typeface="Raleway Light" pitchFamily="34" charset="-122"/>
                <a:cs typeface="Raleway Light" pitchFamily="34" charset="-120"/>
              </a:rPr>
              <a:t>04</a:t>
            </a:r>
            <a:endParaRPr lang="en-US" sz="1400" dirty="0"/>
          </a:p>
        </p:txBody>
      </p:sp>
      <p:sp>
        <p:nvSpPr>
          <p:cNvPr id="22" name="Shape 18"/>
          <p:cNvSpPr/>
          <p:nvPr/>
        </p:nvSpPr>
        <p:spPr>
          <a:xfrm>
            <a:off x="6871884" y="6690098"/>
            <a:ext cx="3996571" cy="15240"/>
          </a:xfrm>
          <a:prstGeom prst="rect">
            <a:avLst/>
          </a:prstGeom>
          <a:solidFill>
            <a:srgbClr val="1B1B27"/>
          </a:solidFill>
          <a:ln/>
        </p:spPr>
      </p:sp>
      <p:sp>
        <p:nvSpPr>
          <p:cNvPr id="23" name="Text 19"/>
          <p:cNvSpPr/>
          <p:nvPr/>
        </p:nvSpPr>
        <p:spPr>
          <a:xfrm>
            <a:off x="6871884" y="6784753"/>
            <a:ext cx="1604963" cy="200620"/>
          </a:xfrm>
          <a:prstGeom prst="rect">
            <a:avLst/>
          </a:prstGeom>
          <a:noFill/>
          <a:ln/>
        </p:spPr>
        <p:txBody>
          <a:bodyPr wrap="none" lIns="0" tIns="0" rIns="0" bIns="0" rtlCol="0" anchor="t"/>
          <a:lstStyle/>
          <a:p>
            <a:pPr marL="0" indent="0" algn="l">
              <a:lnSpc>
                <a:spcPts val="1550"/>
              </a:lnSpc>
              <a:buNone/>
            </a:pPr>
            <a:r>
              <a:rPr lang="en-US" sz="2000" dirty="0">
                <a:solidFill>
                  <a:srgbClr val="3C3939"/>
                </a:solidFill>
                <a:latin typeface="Raleway" pitchFamily="34" charset="0"/>
                <a:ea typeface="Raleway" pitchFamily="34" charset="-122"/>
                <a:cs typeface="Raleway" pitchFamily="34" charset="-120"/>
              </a:rPr>
              <a:t>Real-Time Updates</a:t>
            </a:r>
            <a:endParaRPr lang="en-US" sz="2000" dirty="0"/>
          </a:p>
        </p:txBody>
      </p:sp>
      <p:sp>
        <p:nvSpPr>
          <p:cNvPr id="24" name="Text 20"/>
          <p:cNvSpPr/>
          <p:nvPr/>
        </p:nvSpPr>
        <p:spPr>
          <a:xfrm>
            <a:off x="6871884" y="7062406"/>
            <a:ext cx="3996571" cy="205264"/>
          </a:xfrm>
          <a:prstGeom prst="rect">
            <a:avLst/>
          </a:prstGeom>
          <a:noFill/>
          <a:ln/>
        </p:spPr>
        <p:txBody>
          <a:bodyPr wrap="none" lIns="0" tIns="0" rIns="0" bIns="0" rtlCol="0" anchor="t"/>
          <a:lstStyle/>
          <a:p>
            <a:pPr marL="0" indent="0" algn="l">
              <a:lnSpc>
                <a:spcPts val="1600"/>
              </a:lnSpc>
              <a:buNone/>
            </a:pPr>
            <a:r>
              <a:rPr lang="en-US" sz="1400" dirty="0">
                <a:solidFill>
                  <a:srgbClr val="3C3939"/>
                </a:solidFill>
                <a:latin typeface="Roboto" pitchFamily="34" charset="0"/>
                <a:ea typeface="Roboto" pitchFamily="34" charset="-122"/>
                <a:cs typeface="Roboto" pitchFamily="34" charset="-120"/>
              </a:rPr>
              <a:t>Citizens track resolution status and provide feedback</a:t>
            </a:r>
            <a:endParaRPr lang="en-US" sz="1400" dirty="0"/>
          </a:p>
        </p:txBody>
      </p:sp>
      <p:sp>
        <p:nvSpPr>
          <p:cNvPr id="26" name="Rectangle 25">
            <a:extLst>
              <a:ext uri="{FF2B5EF4-FFF2-40B4-BE49-F238E27FC236}">
                <a16:creationId xmlns:a16="http://schemas.microsoft.com/office/drawing/2014/main" id="{4BFD0C2B-ED60-2875-0A21-A27BF6C9A9C1}"/>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 descr="RV College of Engineering Bengaluru | Top Engineering Institution">
            <a:extLst>
              <a:ext uri="{FF2B5EF4-FFF2-40B4-BE49-F238E27FC236}">
                <a16:creationId xmlns:a16="http://schemas.microsoft.com/office/drawing/2014/main" id="{D33C89C8-A5D2-8184-812E-B31D5DC029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385" y="259361"/>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C4B512AE-A0A1-A88E-5A22-CE450C5B1944}"/>
              </a:ext>
            </a:extLst>
          </p:cNvPr>
          <p:cNvSpPr txBox="1"/>
          <p:nvPr/>
        </p:nvSpPr>
        <p:spPr>
          <a:xfrm>
            <a:off x="11809141" y="476844"/>
            <a:ext cx="2955073"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E41C-EE97-B4F6-9C55-7C31B7B21C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062CACD-15FA-2B3E-E3D5-0F1C8C8F4C9A}"/>
              </a:ext>
            </a:extLst>
          </p:cNvPr>
          <p:cNvSpPr/>
          <p:nvPr/>
        </p:nvSpPr>
        <p:spPr>
          <a:xfrm>
            <a:off x="5998308" y="510718"/>
            <a:ext cx="4577239" cy="572095"/>
          </a:xfrm>
          <a:prstGeom prst="rect">
            <a:avLst/>
          </a:prstGeom>
          <a:noFill/>
          <a:ln/>
        </p:spPr>
        <p:txBody>
          <a:bodyPr wrap="none" lIns="0" tIns="0" rIns="0" bIns="0" rtlCol="0" anchor="t"/>
          <a:lstStyle/>
          <a:p>
            <a:pPr marL="0" indent="0" algn="l">
              <a:lnSpc>
                <a:spcPts val="4500"/>
              </a:lnSpc>
              <a:buNone/>
            </a:pPr>
            <a:r>
              <a:rPr lang="en-US" sz="3600" dirty="0">
                <a:solidFill>
                  <a:srgbClr val="1B1B27"/>
                </a:solidFill>
                <a:latin typeface="Roboto" panose="02000000000000000000" pitchFamily="2" charset="0"/>
                <a:ea typeface="Roboto" panose="02000000000000000000" pitchFamily="2" charset="0"/>
                <a:cs typeface="Roboto" panose="02000000000000000000" pitchFamily="2" charset="0"/>
              </a:rPr>
              <a:t>Objectives</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20" name="Rectangle 19">
            <a:extLst>
              <a:ext uri="{FF2B5EF4-FFF2-40B4-BE49-F238E27FC236}">
                <a16:creationId xmlns:a16="http://schemas.microsoft.com/office/drawing/2014/main" id="{C48D4F6B-4F52-A226-4A7D-AE7C7E258A1C}"/>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 descr="RV College of Engineering Bengaluru | Top Engineering Institution">
            <a:extLst>
              <a:ext uri="{FF2B5EF4-FFF2-40B4-BE49-F238E27FC236}">
                <a16:creationId xmlns:a16="http://schemas.microsoft.com/office/drawing/2014/main" id="{07FFEBA0-729B-D235-D99E-BB832D67D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9D53D838-FC1D-41D0-8D41-5906B09FC822}"/>
              </a:ext>
            </a:extLst>
          </p:cNvPr>
          <p:cNvSpPr txBox="1"/>
          <p:nvPr/>
        </p:nvSpPr>
        <p:spPr>
          <a:xfrm>
            <a:off x="12009863" y="427434"/>
            <a:ext cx="328961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24" name="TextBox 23">
            <a:extLst>
              <a:ext uri="{FF2B5EF4-FFF2-40B4-BE49-F238E27FC236}">
                <a16:creationId xmlns:a16="http://schemas.microsoft.com/office/drawing/2014/main" id="{C6D94042-A887-66CE-57FB-EF0312EF1B31}"/>
              </a:ext>
            </a:extLst>
          </p:cNvPr>
          <p:cNvSpPr txBox="1"/>
          <p:nvPr/>
        </p:nvSpPr>
        <p:spPr>
          <a:xfrm>
            <a:off x="277666" y="1667542"/>
            <a:ext cx="13739276" cy="113877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To design and implement a multi-modal complaint intake framework</a:t>
            </a:r>
          </a:p>
          <a:p>
            <a:pPr>
              <a:buNone/>
            </a:pPr>
            <a:r>
              <a:rPr lang="en-US" sz="2000" dirty="0">
                <a:latin typeface="Times New Roman" panose="02020603050405020304" pitchFamily="18" charset="0"/>
                <a:cs typeface="Times New Roman" panose="02020603050405020304" pitchFamily="18" charset="0"/>
              </a:rPr>
              <a:t>that enables the system to receive complaints through conversational interfaces (e.g., WhatsApp, Telegram, or Web UI), supporting structured (forms) and unstructured (text/image) inputs.</a:t>
            </a:r>
          </a:p>
        </p:txBody>
      </p:sp>
      <p:sp>
        <p:nvSpPr>
          <p:cNvPr id="25" name="TextBox 24">
            <a:extLst>
              <a:ext uri="{FF2B5EF4-FFF2-40B4-BE49-F238E27FC236}">
                <a16:creationId xmlns:a16="http://schemas.microsoft.com/office/drawing/2014/main" id="{8DFE050B-E273-9EA9-96B3-72EE18540690}"/>
              </a:ext>
            </a:extLst>
          </p:cNvPr>
          <p:cNvSpPr txBox="1"/>
          <p:nvPr/>
        </p:nvSpPr>
        <p:spPr>
          <a:xfrm>
            <a:off x="261433" y="3157394"/>
            <a:ext cx="13206840" cy="113877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2️⃣ To develop an AI-based classification engine</a:t>
            </a:r>
          </a:p>
          <a:p>
            <a:pPr>
              <a:buNone/>
            </a:pPr>
            <a:r>
              <a:rPr lang="en-US" sz="2000" dirty="0">
                <a:latin typeface="Times New Roman" panose="02020603050405020304" pitchFamily="18" charset="0"/>
                <a:cs typeface="Times New Roman" panose="02020603050405020304" pitchFamily="18" charset="0"/>
              </a:rPr>
              <a:t>using Natural Language Processing and optional Computer Vision to automatically interpret, categorize, and map incoming complaints to predefined civic domains.</a:t>
            </a:r>
          </a:p>
        </p:txBody>
      </p:sp>
      <p:sp>
        <p:nvSpPr>
          <p:cNvPr id="27" name="TextBox 26">
            <a:extLst>
              <a:ext uri="{FF2B5EF4-FFF2-40B4-BE49-F238E27FC236}">
                <a16:creationId xmlns:a16="http://schemas.microsoft.com/office/drawing/2014/main" id="{A0B81962-8CF8-825A-337E-BCB3EBF70962}"/>
              </a:ext>
            </a:extLst>
          </p:cNvPr>
          <p:cNvSpPr txBox="1"/>
          <p:nvPr/>
        </p:nvSpPr>
        <p:spPr>
          <a:xfrm>
            <a:off x="200662" y="4647246"/>
            <a:ext cx="13105841" cy="113877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3️⃣ To establish a backend service architecture</a:t>
            </a:r>
          </a:p>
          <a:p>
            <a:pPr>
              <a:buNone/>
            </a:pPr>
            <a:r>
              <a:rPr lang="en-US" sz="2000" dirty="0">
                <a:latin typeface="Times New Roman" panose="02020603050405020304" pitchFamily="18" charset="0"/>
                <a:cs typeface="Times New Roman" panose="02020603050405020304" pitchFamily="18" charset="0"/>
              </a:rPr>
              <a:t>built on RESTful APIs and a persistent database (PostgreSQL/MongoDB) for secure storage, retrieval, geotagging, and status management of complaints.</a:t>
            </a:r>
          </a:p>
        </p:txBody>
      </p:sp>
      <p:sp>
        <p:nvSpPr>
          <p:cNvPr id="29" name="TextBox 28">
            <a:extLst>
              <a:ext uri="{FF2B5EF4-FFF2-40B4-BE49-F238E27FC236}">
                <a16:creationId xmlns:a16="http://schemas.microsoft.com/office/drawing/2014/main" id="{786B3F92-57CD-C81D-2CE6-6E7D3548EE8B}"/>
              </a:ext>
            </a:extLst>
          </p:cNvPr>
          <p:cNvSpPr txBox="1"/>
          <p:nvPr/>
        </p:nvSpPr>
        <p:spPr>
          <a:xfrm>
            <a:off x="277666" y="6137098"/>
            <a:ext cx="13357311" cy="113877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4️⃣ To construct an administrative workflow and analytics layer</a:t>
            </a:r>
          </a:p>
          <a:p>
            <a:pPr>
              <a:buNone/>
            </a:pPr>
            <a:r>
              <a:rPr lang="en-US" sz="2000" dirty="0">
                <a:latin typeface="Times New Roman" panose="02020603050405020304" pitchFamily="18" charset="0"/>
                <a:cs typeface="Times New Roman" panose="02020603050405020304" pitchFamily="18" charset="0"/>
              </a:rPr>
              <a:t>integrated with the backend to provide real-time dashboards, departmental segregation, complaint clustering by geography, and lifecycle tracking for efficient grievance resolution.</a:t>
            </a:r>
          </a:p>
        </p:txBody>
      </p:sp>
    </p:spTree>
    <p:extLst>
      <p:ext uri="{BB962C8B-B14F-4D97-AF65-F5344CB8AC3E}">
        <p14:creationId xmlns:p14="http://schemas.microsoft.com/office/powerpoint/2010/main" val="2793761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AF76D-3A84-4A54-936E-7B7B0317D3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B6274B-B846-0F55-E581-E98B9A88343E}"/>
              </a:ext>
            </a:extLst>
          </p:cNvPr>
          <p:cNvSpPr/>
          <p:nvPr/>
        </p:nvSpPr>
        <p:spPr>
          <a:xfrm>
            <a:off x="5685792" y="510718"/>
            <a:ext cx="4577239" cy="572095"/>
          </a:xfrm>
          <a:prstGeom prst="rect">
            <a:avLst/>
          </a:prstGeom>
          <a:noFill/>
          <a:ln/>
        </p:spPr>
        <p:txBody>
          <a:bodyPr wrap="none" lIns="0" tIns="0" rIns="0" bIns="0" rtlCol="0" anchor="t"/>
          <a:lstStyle/>
          <a:p>
            <a:pPr marL="0" indent="0" algn="l">
              <a:lnSpc>
                <a:spcPts val="4500"/>
              </a:lnSpc>
              <a:buNone/>
            </a:pPr>
            <a:r>
              <a:rPr lang="en-US" sz="3600" dirty="0">
                <a:solidFill>
                  <a:srgbClr val="1B1B27"/>
                </a:solidFill>
                <a:latin typeface="Roboto" panose="02000000000000000000" pitchFamily="2" charset="0"/>
                <a:ea typeface="Roboto" panose="02000000000000000000" pitchFamily="2" charset="0"/>
                <a:cs typeface="Roboto" panose="02000000000000000000" pitchFamily="2" charset="0"/>
              </a:rPr>
              <a:t>Design Methodology</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20" name="Rectangle 19">
            <a:extLst>
              <a:ext uri="{FF2B5EF4-FFF2-40B4-BE49-F238E27FC236}">
                <a16:creationId xmlns:a16="http://schemas.microsoft.com/office/drawing/2014/main" id="{F9727743-10C4-93BF-2FB3-7998BB5D570E}"/>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pic>
        <p:nvPicPr>
          <p:cNvPr id="21" name="Picture 2" descr="RV College of Engineering Bengaluru | Top Engineering Institution">
            <a:extLst>
              <a:ext uri="{FF2B5EF4-FFF2-40B4-BE49-F238E27FC236}">
                <a16:creationId xmlns:a16="http://schemas.microsoft.com/office/drawing/2014/main" id="{007C9569-3BC6-2176-6F6B-751254948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F13A0087-0D2F-6017-1C0E-9C1477A2C398}"/>
              </a:ext>
            </a:extLst>
          </p:cNvPr>
          <p:cNvSpPr txBox="1"/>
          <p:nvPr/>
        </p:nvSpPr>
        <p:spPr>
          <a:xfrm>
            <a:off x="12009863" y="427434"/>
            <a:ext cx="328961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3" name="TextBox 2">
            <a:extLst>
              <a:ext uri="{FF2B5EF4-FFF2-40B4-BE49-F238E27FC236}">
                <a16:creationId xmlns:a16="http://schemas.microsoft.com/office/drawing/2014/main" id="{EF485DF4-1977-6CE8-52E9-79BD8D5D832C}"/>
              </a:ext>
            </a:extLst>
          </p:cNvPr>
          <p:cNvSpPr txBox="1"/>
          <p:nvPr/>
        </p:nvSpPr>
        <p:spPr>
          <a:xfrm>
            <a:off x="256499" y="1601637"/>
            <a:ext cx="14117402" cy="1138773"/>
          </a:xfrm>
          <a:prstGeom prst="rect">
            <a:avLst/>
          </a:prstGeom>
          <a:noFill/>
        </p:spPr>
        <p:txBody>
          <a:bodyPr wrap="square">
            <a:spAutoFit/>
          </a:bodyPr>
          <a:lstStyle/>
          <a:p>
            <a:pPr>
              <a:buNone/>
            </a:pPr>
            <a:r>
              <a:rPr lang="en-US" sz="2800" b="1" dirty="0"/>
              <a:t>1️⃣</a:t>
            </a:r>
            <a:r>
              <a:rPr lang="en-US" sz="2000" b="1" dirty="0"/>
              <a:t> </a:t>
            </a:r>
            <a:r>
              <a:rPr lang="en-US" sz="2800" b="1" dirty="0"/>
              <a:t>To design and implement a multi-modal complaint intake framework</a:t>
            </a:r>
          </a:p>
          <a:p>
            <a:pPr>
              <a:buNone/>
            </a:pPr>
            <a:r>
              <a:rPr lang="en-US" sz="2000" dirty="0"/>
              <a:t>that enables the system to receive complaints through conversational interfaces (e.g., WhatsApp, Telegram, or Web UI), supporting structured (forms) and unstructured (text/image) inputs.</a:t>
            </a:r>
          </a:p>
        </p:txBody>
      </p:sp>
      <p:sp>
        <p:nvSpPr>
          <p:cNvPr id="4" name="TextBox 3">
            <a:extLst>
              <a:ext uri="{FF2B5EF4-FFF2-40B4-BE49-F238E27FC236}">
                <a16:creationId xmlns:a16="http://schemas.microsoft.com/office/drawing/2014/main" id="{6406F3B5-676F-C687-4FBF-55305BC5434E}"/>
              </a:ext>
            </a:extLst>
          </p:cNvPr>
          <p:cNvSpPr txBox="1"/>
          <p:nvPr/>
        </p:nvSpPr>
        <p:spPr>
          <a:xfrm>
            <a:off x="253918" y="3098331"/>
            <a:ext cx="14309566" cy="1138773"/>
          </a:xfrm>
          <a:prstGeom prst="rect">
            <a:avLst/>
          </a:prstGeom>
          <a:noFill/>
        </p:spPr>
        <p:txBody>
          <a:bodyPr wrap="square">
            <a:spAutoFit/>
          </a:bodyPr>
          <a:lstStyle/>
          <a:p>
            <a:pPr>
              <a:buNone/>
            </a:pPr>
            <a:r>
              <a:rPr lang="en-US" sz="2800" b="1" dirty="0"/>
              <a:t>2️⃣ To develop an AI-based classification engine</a:t>
            </a:r>
          </a:p>
          <a:p>
            <a:pPr>
              <a:buNone/>
            </a:pPr>
            <a:r>
              <a:rPr lang="en-US" sz="2000" dirty="0"/>
              <a:t>using Natural Language Processing and optional Computer Vision to automatically interpret, categorize, and map incoming complaints to predefined civic domains.</a:t>
            </a:r>
          </a:p>
        </p:txBody>
      </p:sp>
      <p:sp>
        <p:nvSpPr>
          <p:cNvPr id="5" name="TextBox 4">
            <a:extLst>
              <a:ext uri="{FF2B5EF4-FFF2-40B4-BE49-F238E27FC236}">
                <a16:creationId xmlns:a16="http://schemas.microsoft.com/office/drawing/2014/main" id="{2E44DAF4-B633-737C-EC1F-8FBDF984CBFF}"/>
              </a:ext>
            </a:extLst>
          </p:cNvPr>
          <p:cNvSpPr txBox="1"/>
          <p:nvPr/>
        </p:nvSpPr>
        <p:spPr>
          <a:xfrm>
            <a:off x="200662" y="4578514"/>
            <a:ext cx="14309566" cy="1138773"/>
          </a:xfrm>
          <a:prstGeom prst="rect">
            <a:avLst/>
          </a:prstGeom>
          <a:noFill/>
        </p:spPr>
        <p:txBody>
          <a:bodyPr wrap="square">
            <a:spAutoFit/>
          </a:bodyPr>
          <a:lstStyle/>
          <a:p>
            <a:pPr>
              <a:buNone/>
            </a:pPr>
            <a:r>
              <a:rPr lang="en-US" sz="2800" b="1" dirty="0"/>
              <a:t>3️⃣ To establish a backend service architecture</a:t>
            </a:r>
          </a:p>
          <a:p>
            <a:pPr>
              <a:buNone/>
            </a:pPr>
            <a:r>
              <a:rPr lang="en-US" sz="2000" dirty="0"/>
              <a:t>built on RESTful APIs and a persistent database (PostgreSQL/MongoDB) for secure storage, retrieval, geotagging, and status management of complaints.</a:t>
            </a:r>
          </a:p>
        </p:txBody>
      </p:sp>
      <p:sp>
        <p:nvSpPr>
          <p:cNvPr id="6" name="TextBox 5">
            <a:extLst>
              <a:ext uri="{FF2B5EF4-FFF2-40B4-BE49-F238E27FC236}">
                <a16:creationId xmlns:a16="http://schemas.microsoft.com/office/drawing/2014/main" id="{D799760C-1786-A501-7E0D-324CD2C4138B}"/>
              </a:ext>
            </a:extLst>
          </p:cNvPr>
          <p:cNvSpPr txBox="1"/>
          <p:nvPr/>
        </p:nvSpPr>
        <p:spPr>
          <a:xfrm>
            <a:off x="200662" y="6147579"/>
            <a:ext cx="14612481" cy="1138773"/>
          </a:xfrm>
          <a:prstGeom prst="rect">
            <a:avLst/>
          </a:prstGeom>
          <a:noFill/>
        </p:spPr>
        <p:txBody>
          <a:bodyPr wrap="square">
            <a:spAutoFit/>
          </a:bodyPr>
          <a:lstStyle/>
          <a:p>
            <a:pPr>
              <a:buNone/>
            </a:pPr>
            <a:r>
              <a:rPr lang="en-US" sz="2800" b="1" dirty="0"/>
              <a:t>4️⃣ To construct an administrative workflow and analytics layer</a:t>
            </a:r>
          </a:p>
          <a:p>
            <a:pPr>
              <a:buNone/>
            </a:pPr>
            <a:r>
              <a:rPr lang="en-US" sz="2000" dirty="0"/>
              <a:t>integrated with the backend to provide real-time dashboards, departmental segregation, complaint clustering by geography, and lifecycle tracking for efficient grievance resolution.</a:t>
            </a:r>
          </a:p>
        </p:txBody>
      </p:sp>
    </p:spTree>
    <p:extLst>
      <p:ext uri="{BB962C8B-B14F-4D97-AF65-F5344CB8AC3E}">
        <p14:creationId xmlns:p14="http://schemas.microsoft.com/office/powerpoint/2010/main" val="1153743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06116" y="585770"/>
            <a:ext cx="4577239" cy="572095"/>
          </a:xfrm>
          <a:prstGeom prst="rect">
            <a:avLst/>
          </a:prstGeom>
          <a:noFill/>
          <a:ln/>
        </p:spPr>
        <p:txBody>
          <a:bodyPr wrap="none" lIns="0" tIns="0" rIns="0" bIns="0" rtlCol="0" anchor="t"/>
          <a:lstStyle/>
          <a:p>
            <a:pPr marL="0" indent="0" algn="l">
              <a:lnSpc>
                <a:spcPts val="4500"/>
              </a:lnSpc>
              <a:buNone/>
            </a:pPr>
            <a:r>
              <a:rPr lang="en-US" sz="3600" dirty="0">
                <a:solidFill>
                  <a:srgbClr val="1B1B27"/>
                </a:solidFill>
                <a:latin typeface="Roboto" panose="02000000000000000000" pitchFamily="2" charset="0"/>
                <a:ea typeface="Roboto" panose="02000000000000000000" pitchFamily="2" charset="0"/>
                <a:cs typeface="Roboto" panose="02000000000000000000" pitchFamily="2" charset="0"/>
              </a:rPr>
              <a:t>System Architecture</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1524953" y="1441847"/>
            <a:ext cx="6694487" cy="585788"/>
          </a:xfrm>
          <a:prstGeom prst="rect">
            <a:avLst/>
          </a:prstGeom>
          <a:noFill/>
          <a:ln/>
        </p:spPr>
        <p:txBody>
          <a:bodyPr wrap="square" lIns="0" tIns="0" rIns="0" bIns="0" rtlCol="0" anchor="t"/>
          <a:lstStyle/>
          <a:p>
            <a:pPr marL="0" indent="0" algn="just">
              <a:lnSpc>
                <a:spcPts val="2300"/>
              </a:lnSpc>
              <a:buNone/>
            </a:pPr>
            <a:r>
              <a:rPr lang="en-US" sz="1400" dirty="0">
                <a:solidFill>
                  <a:srgbClr val="3C3939"/>
                </a:solidFill>
                <a:latin typeface="Roboto" pitchFamily="34" charset="0"/>
                <a:ea typeface="Roboto" pitchFamily="34" charset="-122"/>
                <a:cs typeface="Roboto" pitchFamily="34" charset="-120"/>
              </a:rPr>
              <a:t>SnapFix combines accessible frontend interfaces with powerful backend processing </a:t>
            </a:r>
          </a:p>
          <a:p>
            <a:pPr marL="0" indent="0" algn="just">
              <a:lnSpc>
                <a:spcPts val="2300"/>
              </a:lnSpc>
              <a:buNone/>
            </a:pPr>
            <a:r>
              <a:rPr lang="en-US" sz="1400" dirty="0">
                <a:solidFill>
                  <a:srgbClr val="3C3939"/>
                </a:solidFill>
                <a:latin typeface="Roboto" pitchFamily="34" charset="0"/>
                <a:ea typeface="Roboto" pitchFamily="34" charset="-122"/>
                <a:cs typeface="Roboto" pitchFamily="34" charset="-120"/>
              </a:rPr>
              <a:t>and intelligent AI layers to create a seamless complaint management ecosystem.</a:t>
            </a:r>
            <a:endParaRPr lang="en-US" sz="1400" dirty="0"/>
          </a:p>
        </p:txBody>
      </p:sp>
      <p:pic>
        <p:nvPicPr>
          <p:cNvPr id="4" name="Image 0" descr="preencoded.png"/>
          <p:cNvPicPr>
            <a:picLocks noChangeAspect="1"/>
          </p:cNvPicPr>
          <p:nvPr/>
        </p:nvPicPr>
        <p:blipFill>
          <a:blip r:embed="rId3"/>
          <a:stretch>
            <a:fillRect/>
          </a:stretch>
        </p:blipFill>
        <p:spPr>
          <a:xfrm>
            <a:off x="1524953" y="2233493"/>
            <a:ext cx="915353" cy="1098471"/>
          </a:xfrm>
          <a:prstGeom prst="rect">
            <a:avLst/>
          </a:prstGeom>
        </p:spPr>
      </p:pic>
      <p:sp>
        <p:nvSpPr>
          <p:cNvPr id="5" name="Text 2"/>
          <p:cNvSpPr/>
          <p:nvPr/>
        </p:nvSpPr>
        <p:spPr>
          <a:xfrm>
            <a:off x="2623304" y="2416493"/>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Telegram Bot</a:t>
            </a:r>
            <a:endParaRPr lang="en-US" sz="1800" dirty="0"/>
          </a:p>
        </p:txBody>
      </p:sp>
      <p:sp>
        <p:nvSpPr>
          <p:cNvPr id="6" name="Text 3"/>
          <p:cNvSpPr/>
          <p:nvPr/>
        </p:nvSpPr>
        <p:spPr>
          <a:xfrm>
            <a:off x="2623304" y="2812256"/>
            <a:ext cx="10482024" cy="292894"/>
          </a:xfrm>
          <a:prstGeom prst="rect">
            <a:avLst/>
          </a:prstGeom>
          <a:noFill/>
          <a:ln/>
        </p:spPr>
        <p:txBody>
          <a:bodyPr wrap="none" lIns="0" tIns="0" rIns="0" bIns="0" rtlCol="0" anchor="t"/>
          <a:lstStyle/>
          <a:p>
            <a:pPr marL="0" indent="0" algn="l">
              <a:lnSpc>
                <a:spcPts val="2300"/>
              </a:lnSpc>
              <a:buNone/>
            </a:pPr>
            <a:r>
              <a:rPr lang="en-US" sz="1400" dirty="0">
                <a:solidFill>
                  <a:srgbClr val="3C3939"/>
                </a:solidFill>
                <a:latin typeface="Roboto" pitchFamily="34" charset="0"/>
                <a:ea typeface="Roboto" pitchFamily="34" charset="-122"/>
                <a:cs typeface="Roboto" pitchFamily="34" charset="-120"/>
              </a:rPr>
              <a:t>Conversational interface for intuitive citizen reporting</a:t>
            </a:r>
            <a:endParaRPr lang="en-US" sz="1400" dirty="0"/>
          </a:p>
        </p:txBody>
      </p:sp>
      <p:pic>
        <p:nvPicPr>
          <p:cNvPr id="7" name="Image 1" descr="preencoded.png"/>
          <p:cNvPicPr>
            <a:picLocks noChangeAspect="1"/>
          </p:cNvPicPr>
          <p:nvPr/>
        </p:nvPicPr>
        <p:blipFill>
          <a:blip r:embed="rId4"/>
          <a:stretch>
            <a:fillRect/>
          </a:stretch>
        </p:blipFill>
        <p:spPr>
          <a:xfrm>
            <a:off x="1524953" y="3331964"/>
            <a:ext cx="915353" cy="1098471"/>
          </a:xfrm>
          <a:prstGeom prst="rect">
            <a:avLst/>
          </a:prstGeom>
        </p:spPr>
      </p:pic>
      <p:sp>
        <p:nvSpPr>
          <p:cNvPr id="8" name="Text 4"/>
          <p:cNvSpPr/>
          <p:nvPr/>
        </p:nvSpPr>
        <p:spPr>
          <a:xfrm>
            <a:off x="2623304" y="3514963"/>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Flask API</a:t>
            </a:r>
            <a:endParaRPr lang="en-US" sz="1800" dirty="0"/>
          </a:p>
        </p:txBody>
      </p:sp>
      <p:sp>
        <p:nvSpPr>
          <p:cNvPr id="9" name="Text 5"/>
          <p:cNvSpPr/>
          <p:nvPr/>
        </p:nvSpPr>
        <p:spPr>
          <a:xfrm>
            <a:off x="2623304" y="3910727"/>
            <a:ext cx="10482024" cy="292894"/>
          </a:xfrm>
          <a:prstGeom prst="rect">
            <a:avLst/>
          </a:prstGeom>
          <a:noFill/>
          <a:ln/>
        </p:spPr>
        <p:txBody>
          <a:bodyPr wrap="none" lIns="0" tIns="0" rIns="0" bIns="0" rtlCol="0" anchor="t"/>
          <a:lstStyle/>
          <a:p>
            <a:pPr marL="0" indent="0" algn="l">
              <a:lnSpc>
                <a:spcPts val="2300"/>
              </a:lnSpc>
              <a:buNone/>
            </a:pPr>
            <a:r>
              <a:rPr lang="en-US" sz="1400" dirty="0">
                <a:solidFill>
                  <a:srgbClr val="3C3939"/>
                </a:solidFill>
                <a:latin typeface="Roboto" pitchFamily="34" charset="0"/>
                <a:ea typeface="Roboto" pitchFamily="34" charset="-122"/>
                <a:cs typeface="Roboto" pitchFamily="34" charset="-120"/>
              </a:rPr>
              <a:t>RESTful backend for request processing and routing</a:t>
            </a:r>
            <a:endParaRPr lang="en-US" sz="1400" dirty="0"/>
          </a:p>
        </p:txBody>
      </p:sp>
      <p:pic>
        <p:nvPicPr>
          <p:cNvPr id="10" name="Image 2" descr="preencoded.png"/>
          <p:cNvPicPr>
            <a:picLocks noChangeAspect="1"/>
          </p:cNvPicPr>
          <p:nvPr/>
        </p:nvPicPr>
        <p:blipFill>
          <a:blip r:embed="rId5"/>
          <a:stretch>
            <a:fillRect/>
          </a:stretch>
        </p:blipFill>
        <p:spPr>
          <a:xfrm>
            <a:off x="1524953" y="4430435"/>
            <a:ext cx="915353" cy="1098471"/>
          </a:xfrm>
          <a:prstGeom prst="rect">
            <a:avLst/>
          </a:prstGeom>
        </p:spPr>
      </p:pic>
      <p:sp>
        <p:nvSpPr>
          <p:cNvPr id="11" name="Text 6"/>
          <p:cNvSpPr/>
          <p:nvPr/>
        </p:nvSpPr>
        <p:spPr>
          <a:xfrm>
            <a:off x="2623304" y="4613434"/>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AI Engine</a:t>
            </a:r>
            <a:endParaRPr lang="en-US" sz="1800" dirty="0"/>
          </a:p>
        </p:txBody>
      </p:sp>
      <p:sp>
        <p:nvSpPr>
          <p:cNvPr id="12" name="Text 7"/>
          <p:cNvSpPr/>
          <p:nvPr/>
        </p:nvSpPr>
        <p:spPr>
          <a:xfrm>
            <a:off x="2623304" y="5009198"/>
            <a:ext cx="10482024" cy="292894"/>
          </a:xfrm>
          <a:prstGeom prst="rect">
            <a:avLst/>
          </a:prstGeom>
          <a:noFill/>
          <a:ln/>
        </p:spPr>
        <p:txBody>
          <a:bodyPr wrap="none" lIns="0" tIns="0" rIns="0" bIns="0" rtlCol="0" anchor="t"/>
          <a:lstStyle/>
          <a:p>
            <a:pPr marL="0" indent="0" algn="l">
              <a:lnSpc>
                <a:spcPts val="2300"/>
              </a:lnSpc>
              <a:buNone/>
            </a:pPr>
            <a:r>
              <a:rPr lang="en-US" sz="1400" dirty="0">
                <a:solidFill>
                  <a:srgbClr val="3C3939"/>
                </a:solidFill>
                <a:latin typeface="Roboto" pitchFamily="34" charset="0"/>
                <a:ea typeface="Roboto" pitchFamily="34" charset="-122"/>
                <a:cs typeface="Roboto" pitchFamily="34" charset="-120"/>
              </a:rPr>
              <a:t>Multi-model classification and urgency detection</a:t>
            </a:r>
            <a:endParaRPr lang="en-US" sz="1400" dirty="0"/>
          </a:p>
        </p:txBody>
      </p:sp>
      <p:pic>
        <p:nvPicPr>
          <p:cNvPr id="13" name="Image 3" descr="preencoded.png"/>
          <p:cNvPicPr>
            <a:picLocks noChangeAspect="1"/>
          </p:cNvPicPr>
          <p:nvPr/>
        </p:nvPicPr>
        <p:blipFill>
          <a:blip r:embed="rId6"/>
          <a:stretch>
            <a:fillRect/>
          </a:stretch>
        </p:blipFill>
        <p:spPr>
          <a:xfrm>
            <a:off x="1524953" y="5528905"/>
            <a:ext cx="915353" cy="1098471"/>
          </a:xfrm>
          <a:prstGeom prst="rect">
            <a:avLst/>
          </a:prstGeom>
        </p:spPr>
      </p:pic>
      <p:sp>
        <p:nvSpPr>
          <p:cNvPr id="14" name="Text 8"/>
          <p:cNvSpPr/>
          <p:nvPr/>
        </p:nvSpPr>
        <p:spPr>
          <a:xfrm>
            <a:off x="2623304" y="5711904"/>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PostGIS DB</a:t>
            </a:r>
            <a:endParaRPr lang="en-US" sz="1800" dirty="0"/>
          </a:p>
        </p:txBody>
      </p:sp>
      <p:sp>
        <p:nvSpPr>
          <p:cNvPr id="15" name="Text 9"/>
          <p:cNvSpPr/>
          <p:nvPr/>
        </p:nvSpPr>
        <p:spPr>
          <a:xfrm>
            <a:off x="2623304" y="6107668"/>
            <a:ext cx="10482024" cy="292894"/>
          </a:xfrm>
          <a:prstGeom prst="rect">
            <a:avLst/>
          </a:prstGeom>
          <a:noFill/>
          <a:ln/>
        </p:spPr>
        <p:txBody>
          <a:bodyPr wrap="none" lIns="0" tIns="0" rIns="0" bIns="0" rtlCol="0" anchor="t"/>
          <a:lstStyle/>
          <a:p>
            <a:pPr marL="0" indent="0" algn="l">
              <a:lnSpc>
                <a:spcPts val="2300"/>
              </a:lnSpc>
              <a:buNone/>
            </a:pPr>
            <a:r>
              <a:rPr lang="en-US" sz="1400" dirty="0">
                <a:solidFill>
                  <a:srgbClr val="3C3939"/>
                </a:solidFill>
                <a:latin typeface="Roboto" pitchFamily="34" charset="0"/>
                <a:ea typeface="Roboto" pitchFamily="34" charset="-122"/>
                <a:cs typeface="Roboto" pitchFamily="34" charset="-120"/>
              </a:rPr>
              <a:t>Geospatial storage with location intelligence</a:t>
            </a:r>
            <a:endParaRPr lang="en-US" sz="1400" dirty="0"/>
          </a:p>
        </p:txBody>
      </p:sp>
      <p:pic>
        <p:nvPicPr>
          <p:cNvPr id="16" name="Image 4" descr="preencoded.png"/>
          <p:cNvPicPr>
            <a:picLocks noChangeAspect="1"/>
          </p:cNvPicPr>
          <p:nvPr/>
        </p:nvPicPr>
        <p:blipFill>
          <a:blip r:embed="rId7"/>
          <a:stretch>
            <a:fillRect/>
          </a:stretch>
        </p:blipFill>
        <p:spPr>
          <a:xfrm>
            <a:off x="1524953" y="6627376"/>
            <a:ext cx="915353" cy="1098471"/>
          </a:xfrm>
          <a:prstGeom prst="rect">
            <a:avLst/>
          </a:prstGeom>
        </p:spPr>
      </p:pic>
      <p:sp>
        <p:nvSpPr>
          <p:cNvPr id="17" name="Text 10"/>
          <p:cNvSpPr/>
          <p:nvPr/>
        </p:nvSpPr>
        <p:spPr>
          <a:xfrm>
            <a:off x="2623304" y="6810375"/>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3C3939"/>
                </a:solidFill>
                <a:latin typeface="Raleway" pitchFamily="34" charset="0"/>
                <a:ea typeface="Raleway" pitchFamily="34" charset="-122"/>
                <a:cs typeface="Raleway" pitchFamily="34" charset="-120"/>
              </a:rPr>
              <a:t>Admin Portal</a:t>
            </a:r>
            <a:endParaRPr lang="en-US" sz="1800" dirty="0"/>
          </a:p>
        </p:txBody>
      </p:sp>
      <p:sp>
        <p:nvSpPr>
          <p:cNvPr id="18" name="Text 11"/>
          <p:cNvSpPr/>
          <p:nvPr/>
        </p:nvSpPr>
        <p:spPr>
          <a:xfrm>
            <a:off x="2623304" y="7206139"/>
            <a:ext cx="10482024" cy="292894"/>
          </a:xfrm>
          <a:prstGeom prst="rect">
            <a:avLst/>
          </a:prstGeom>
          <a:noFill/>
          <a:ln/>
        </p:spPr>
        <p:txBody>
          <a:bodyPr wrap="none" lIns="0" tIns="0" rIns="0" bIns="0" rtlCol="0" anchor="t"/>
          <a:lstStyle/>
          <a:p>
            <a:pPr marL="0" indent="0" algn="l">
              <a:lnSpc>
                <a:spcPts val="2300"/>
              </a:lnSpc>
              <a:buNone/>
            </a:pPr>
            <a:r>
              <a:rPr lang="en-US" sz="1400" dirty="0">
                <a:solidFill>
                  <a:srgbClr val="3C3939"/>
                </a:solidFill>
                <a:latin typeface="Roboto" pitchFamily="34" charset="0"/>
                <a:ea typeface="Roboto" pitchFamily="34" charset="-122"/>
                <a:cs typeface="Roboto" pitchFamily="34" charset="-120"/>
              </a:rPr>
              <a:t>Analytics dashboard with heatmaps and insights</a:t>
            </a:r>
            <a:endParaRPr lang="en-US" sz="1400" dirty="0"/>
          </a:p>
        </p:txBody>
      </p:sp>
      <p:sp>
        <p:nvSpPr>
          <p:cNvPr id="20" name="Rectangle 19">
            <a:extLst>
              <a:ext uri="{FF2B5EF4-FFF2-40B4-BE49-F238E27FC236}">
                <a16:creationId xmlns:a16="http://schemas.microsoft.com/office/drawing/2014/main" id="{54B63470-BCF9-771D-AAF5-130FB49C76DE}"/>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 descr="RV College of Engineering Bengaluru | Top Engineering Institution">
            <a:extLst>
              <a:ext uri="{FF2B5EF4-FFF2-40B4-BE49-F238E27FC236}">
                <a16:creationId xmlns:a16="http://schemas.microsoft.com/office/drawing/2014/main" id="{E105A2A9-9BB6-8BFF-2D0F-1D7FEF099A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FDE6E9BC-0102-8150-391F-A3BC5C168461}"/>
              </a:ext>
            </a:extLst>
          </p:cNvPr>
          <p:cNvPicPr>
            <a:picLocks noChangeAspect="1"/>
          </p:cNvPicPr>
          <p:nvPr/>
        </p:nvPicPr>
        <p:blipFill>
          <a:blip r:embed="rId9"/>
          <a:stretch>
            <a:fillRect/>
          </a:stretch>
        </p:blipFill>
        <p:spPr>
          <a:xfrm>
            <a:off x="8950960" y="1036320"/>
            <a:ext cx="5273039" cy="7092919"/>
          </a:xfrm>
          <a:prstGeom prst="rect">
            <a:avLst/>
          </a:prstGeom>
        </p:spPr>
      </p:pic>
      <p:sp>
        <p:nvSpPr>
          <p:cNvPr id="28" name="TextBox 27">
            <a:extLst>
              <a:ext uri="{FF2B5EF4-FFF2-40B4-BE49-F238E27FC236}">
                <a16:creationId xmlns:a16="http://schemas.microsoft.com/office/drawing/2014/main" id="{F71DAF70-EBF7-1C4B-6C88-9E43DA79ADFB}"/>
              </a:ext>
            </a:extLst>
          </p:cNvPr>
          <p:cNvSpPr txBox="1"/>
          <p:nvPr/>
        </p:nvSpPr>
        <p:spPr>
          <a:xfrm>
            <a:off x="12009863" y="427434"/>
            <a:ext cx="328961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1"/>
          <p:cNvSpPr/>
          <p:nvPr/>
        </p:nvSpPr>
        <p:spPr>
          <a:xfrm>
            <a:off x="1161217" y="668179"/>
            <a:ext cx="1325047" cy="280392"/>
          </a:xfrm>
          <a:prstGeom prst="rect">
            <a:avLst/>
          </a:prstGeom>
          <a:noFill/>
          <a:ln/>
        </p:spPr>
        <p:txBody>
          <a:bodyPr wrap="none" lIns="0" tIns="0" rIns="0" bIns="0" rtlCol="0" anchor="t"/>
          <a:lstStyle/>
          <a:p>
            <a:pPr marL="0" indent="0" algn="l">
              <a:lnSpc>
                <a:spcPts val="2200"/>
              </a:lnSpc>
              <a:buNone/>
            </a:pPr>
            <a:endParaRPr lang="en-US" sz="1350" dirty="0"/>
          </a:p>
        </p:txBody>
      </p:sp>
      <p:sp>
        <p:nvSpPr>
          <p:cNvPr id="5" name="Text 2"/>
          <p:cNvSpPr/>
          <p:nvPr/>
        </p:nvSpPr>
        <p:spPr>
          <a:xfrm>
            <a:off x="5235893" y="606207"/>
            <a:ext cx="8003381" cy="684728"/>
          </a:xfrm>
          <a:prstGeom prst="rect">
            <a:avLst/>
          </a:prstGeom>
          <a:noFill/>
          <a:ln/>
        </p:spPr>
        <p:txBody>
          <a:bodyPr wrap="none" lIns="0" tIns="0" rIns="0" bIns="0" rtlCol="0" anchor="t"/>
          <a:lstStyle/>
          <a:p>
            <a:pPr marL="0" indent="0" algn="l">
              <a:lnSpc>
                <a:spcPts val="5350"/>
              </a:lnSpc>
              <a:buNone/>
            </a:pPr>
            <a:r>
              <a:rPr lang="en-US" sz="4300" dirty="0">
                <a:solidFill>
                  <a:srgbClr val="1B1B27"/>
                </a:solidFill>
                <a:latin typeface="Roboto" panose="02000000000000000000" pitchFamily="2" charset="0"/>
                <a:ea typeface="Roboto" panose="02000000000000000000" pitchFamily="2" charset="0"/>
                <a:cs typeface="Roboto" panose="02000000000000000000" pitchFamily="2" charset="0"/>
              </a:rPr>
              <a:t>AI Models Used</a:t>
            </a:r>
            <a:endParaRPr lang="en-US" sz="4300" dirty="0">
              <a:latin typeface="Roboto" panose="02000000000000000000" pitchFamily="2" charset="0"/>
              <a:ea typeface="Roboto" panose="02000000000000000000" pitchFamily="2" charset="0"/>
              <a:cs typeface="Roboto" panose="02000000000000000000" pitchFamily="2" charset="0"/>
            </a:endParaRPr>
          </a:p>
        </p:txBody>
      </p:sp>
      <p:sp>
        <p:nvSpPr>
          <p:cNvPr id="6" name="Text 3"/>
          <p:cNvSpPr/>
          <p:nvPr/>
        </p:nvSpPr>
        <p:spPr>
          <a:xfrm>
            <a:off x="736282" y="2115264"/>
            <a:ext cx="13096637" cy="70104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SnapFix leverages three specialized AI models working in concert to transform raw citizen inputs into structured, actionable data for municipal departments.</a:t>
            </a:r>
            <a:endParaRPr lang="en-US" sz="1700" dirty="0"/>
          </a:p>
        </p:txBody>
      </p:sp>
      <p:sp>
        <p:nvSpPr>
          <p:cNvPr id="7" name="Shape 4"/>
          <p:cNvSpPr/>
          <p:nvPr/>
        </p:nvSpPr>
        <p:spPr>
          <a:xfrm>
            <a:off x="766882" y="3062764"/>
            <a:ext cx="4219456" cy="4565809"/>
          </a:xfrm>
          <a:prstGeom prst="roundRect">
            <a:avLst>
              <a:gd name="adj" fmla="val 2181"/>
            </a:avLst>
          </a:prstGeom>
          <a:solidFill>
            <a:srgbClr val="FFFFFF">
              <a:alpha val="95000"/>
            </a:srgbClr>
          </a:solidFill>
          <a:ln w="30480">
            <a:solidFill>
              <a:srgbClr val="C7C7D0"/>
            </a:solidFill>
            <a:prstDash val="solid"/>
          </a:ln>
        </p:spPr>
      </p:sp>
      <p:sp>
        <p:nvSpPr>
          <p:cNvPr id="8" name="Shape 5"/>
          <p:cNvSpPr/>
          <p:nvPr/>
        </p:nvSpPr>
        <p:spPr>
          <a:xfrm>
            <a:off x="797362" y="3093244"/>
            <a:ext cx="4158496" cy="657344"/>
          </a:xfrm>
          <a:prstGeom prst="roundRect">
            <a:avLst>
              <a:gd name="adj" fmla="val 8436"/>
            </a:avLst>
          </a:prstGeom>
          <a:solidFill>
            <a:srgbClr val="E1E1EA"/>
          </a:solidFill>
          <a:ln/>
        </p:spPr>
      </p:sp>
      <p:sp>
        <p:nvSpPr>
          <p:cNvPr id="9" name="Text 6"/>
          <p:cNvSpPr/>
          <p:nvPr/>
        </p:nvSpPr>
        <p:spPr>
          <a:xfrm>
            <a:off x="2712244" y="3212663"/>
            <a:ext cx="328613" cy="410766"/>
          </a:xfrm>
          <a:prstGeom prst="rect">
            <a:avLst/>
          </a:prstGeom>
          <a:noFill/>
          <a:ln/>
        </p:spPr>
        <p:txBody>
          <a:bodyPr wrap="none" lIns="0" tIns="0" rIns="0" bIns="0" rtlCol="0" anchor="t"/>
          <a:lstStyle/>
          <a:p>
            <a:pPr marL="0" indent="0" algn="l">
              <a:lnSpc>
                <a:spcPts val="2550"/>
              </a:lnSpc>
              <a:buNone/>
            </a:pPr>
            <a:r>
              <a:rPr lang="en-US" sz="2550" dirty="0">
                <a:solidFill>
                  <a:srgbClr val="3C3939"/>
                </a:solidFill>
                <a:latin typeface="Raleway" pitchFamily="34" charset="0"/>
                <a:ea typeface="Raleway" pitchFamily="34" charset="-122"/>
                <a:cs typeface="Raleway" pitchFamily="34" charset="-120"/>
              </a:rPr>
              <a:t>1</a:t>
            </a:r>
            <a:endParaRPr lang="en-US" sz="2550" dirty="0"/>
          </a:p>
        </p:txBody>
      </p:sp>
      <p:sp>
        <p:nvSpPr>
          <p:cNvPr id="10" name="Text 7"/>
          <p:cNvSpPr/>
          <p:nvPr/>
        </p:nvSpPr>
        <p:spPr>
          <a:xfrm>
            <a:off x="1016437" y="3969663"/>
            <a:ext cx="2738914" cy="342305"/>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Image Classification</a:t>
            </a:r>
            <a:endParaRPr lang="en-US" sz="2150" dirty="0"/>
          </a:p>
        </p:txBody>
      </p:sp>
      <p:sp>
        <p:nvSpPr>
          <p:cNvPr id="11" name="Text 8"/>
          <p:cNvSpPr/>
          <p:nvPr/>
        </p:nvSpPr>
        <p:spPr>
          <a:xfrm>
            <a:off x="1016437" y="4443413"/>
            <a:ext cx="3720346" cy="350520"/>
          </a:xfrm>
          <a:prstGeom prst="rect">
            <a:avLst/>
          </a:prstGeom>
          <a:noFill/>
          <a:ln/>
        </p:spPr>
        <p:txBody>
          <a:bodyPr wrap="non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Model:</a:t>
            </a:r>
            <a:r>
              <a:rPr lang="en-US" sz="1700" dirty="0">
                <a:solidFill>
                  <a:srgbClr val="3C3939"/>
                </a:solidFill>
                <a:latin typeface="Roboto" pitchFamily="34" charset="0"/>
                <a:ea typeface="Roboto" pitchFamily="34" charset="-122"/>
                <a:cs typeface="Roboto" pitchFamily="34" charset="-120"/>
              </a:rPr>
              <a:t> MobileNetV2</a:t>
            </a:r>
            <a:endParaRPr lang="en-US" sz="1700" dirty="0"/>
          </a:p>
        </p:txBody>
      </p:sp>
      <p:sp>
        <p:nvSpPr>
          <p:cNvPr id="12" name="Text 9"/>
          <p:cNvSpPr/>
          <p:nvPr/>
        </p:nvSpPr>
        <p:spPr>
          <a:xfrm>
            <a:off x="1016437" y="4925378"/>
            <a:ext cx="3720346" cy="245364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Classifies infrastructure issues from citizen-submitted photos with high accuracy. This lightweight architecture enables real-time inference while maintaining low computational costs—perfect for municipal-scale deployment.</a:t>
            </a:r>
            <a:endParaRPr lang="en-US" sz="1700" dirty="0"/>
          </a:p>
        </p:txBody>
      </p:sp>
      <p:sp>
        <p:nvSpPr>
          <p:cNvPr id="13" name="Shape 10"/>
          <p:cNvSpPr/>
          <p:nvPr/>
        </p:nvSpPr>
        <p:spPr>
          <a:xfrm>
            <a:off x="5205413" y="3062764"/>
            <a:ext cx="4219456" cy="4565809"/>
          </a:xfrm>
          <a:prstGeom prst="roundRect">
            <a:avLst>
              <a:gd name="adj" fmla="val 2181"/>
            </a:avLst>
          </a:prstGeom>
          <a:solidFill>
            <a:srgbClr val="FFFFFF">
              <a:alpha val="95000"/>
            </a:srgbClr>
          </a:solidFill>
          <a:ln w="30480">
            <a:solidFill>
              <a:srgbClr val="C7C7D0"/>
            </a:solidFill>
            <a:prstDash val="solid"/>
          </a:ln>
        </p:spPr>
      </p:sp>
      <p:sp>
        <p:nvSpPr>
          <p:cNvPr id="14" name="Shape 11"/>
          <p:cNvSpPr/>
          <p:nvPr/>
        </p:nvSpPr>
        <p:spPr>
          <a:xfrm>
            <a:off x="5235893" y="3093244"/>
            <a:ext cx="4158496" cy="657344"/>
          </a:xfrm>
          <a:prstGeom prst="roundRect">
            <a:avLst>
              <a:gd name="adj" fmla="val 8436"/>
            </a:avLst>
          </a:prstGeom>
          <a:solidFill>
            <a:srgbClr val="E1E1EA"/>
          </a:solidFill>
          <a:ln/>
        </p:spPr>
      </p:sp>
      <p:sp>
        <p:nvSpPr>
          <p:cNvPr id="15" name="Text 12"/>
          <p:cNvSpPr/>
          <p:nvPr/>
        </p:nvSpPr>
        <p:spPr>
          <a:xfrm>
            <a:off x="7150775" y="3212663"/>
            <a:ext cx="328613" cy="410766"/>
          </a:xfrm>
          <a:prstGeom prst="rect">
            <a:avLst/>
          </a:prstGeom>
          <a:noFill/>
          <a:ln/>
        </p:spPr>
        <p:txBody>
          <a:bodyPr wrap="none" lIns="0" tIns="0" rIns="0" bIns="0" rtlCol="0" anchor="t"/>
          <a:lstStyle/>
          <a:p>
            <a:pPr marL="0" indent="0" algn="l">
              <a:lnSpc>
                <a:spcPts val="2550"/>
              </a:lnSpc>
              <a:buNone/>
            </a:pPr>
            <a:r>
              <a:rPr lang="en-US" sz="2550" dirty="0">
                <a:solidFill>
                  <a:srgbClr val="3C3939"/>
                </a:solidFill>
                <a:latin typeface="Raleway" pitchFamily="34" charset="0"/>
                <a:ea typeface="Raleway" pitchFamily="34" charset="-122"/>
                <a:cs typeface="Raleway" pitchFamily="34" charset="-120"/>
              </a:rPr>
              <a:t>2</a:t>
            </a:r>
            <a:endParaRPr lang="en-US" sz="2550" dirty="0"/>
          </a:p>
        </p:txBody>
      </p:sp>
      <p:sp>
        <p:nvSpPr>
          <p:cNvPr id="16" name="Text 13"/>
          <p:cNvSpPr/>
          <p:nvPr/>
        </p:nvSpPr>
        <p:spPr>
          <a:xfrm>
            <a:off x="5454968" y="3969663"/>
            <a:ext cx="2738914" cy="342305"/>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Text Classification</a:t>
            </a:r>
            <a:endParaRPr lang="en-US" sz="2150" dirty="0"/>
          </a:p>
        </p:txBody>
      </p:sp>
      <p:sp>
        <p:nvSpPr>
          <p:cNvPr id="17" name="Text 14"/>
          <p:cNvSpPr/>
          <p:nvPr/>
        </p:nvSpPr>
        <p:spPr>
          <a:xfrm>
            <a:off x="5454968" y="4443413"/>
            <a:ext cx="3720346" cy="350520"/>
          </a:xfrm>
          <a:prstGeom prst="rect">
            <a:avLst/>
          </a:prstGeom>
          <a:noFill/>
          <a:ln/>
        </p:spPr>
        <p:txBody>
          <a:bodyPr wrap="non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Model:</a:t>
            </a:r>
            <a:r>
              <a:rPr lang="en-US" sz="1700" dirty="0">
                <a:solidFill>
                  <a:srgbClr val="3C3939"/>
                </a:solidFill>
                <a:latin typeface="Roboto" pitchFamily="34" charset="0"/>
                <a:ea typeface="Roboto" pitchFamily="34" charset="-122"/>
                <a:cs typeface="Roboto" pitchFamily="34" charset="-120"/>
              </a:rPr>
              <a:t> TF-IDF + Logistic Regression</a:t>
            </a:r>
            <a:endParaRPr lang="en-US" sz="1700" dirty="0"/>
          </a:p>
        </p:txBody>
      </p:sp>
      <p:sp>
        <p:nvSpPr>
          <p:cNvPr id="18" name="Text 15"/>
          <p:cNvSpPr/>
          <p:nvPr/>
        </p:nvSpPr>
        <p:spPr>
          <a:xfrm>
            <a:off x="5454968" y="4925378"/>
            <a:ext cx="3720346" cy="210312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Analyzes complaint descriptions to determine issue categories. This interpretable approach delivers fast inference and strong performance on short text, making it ideal for quick complaint routing.</a:t>
            </a:r>
            <a:endParaRPr lang="en-US" sz="1700" dirty="0"/>
          </a:p>
        </p:txBody>
      </p:sp>
      <p:sp>
        <p:nvSpPr>
          <p:cNvPr id="19" name="Shape 16"/>
          <p:cNvSpPr/>
          <p:nvPr/>
        </p:nvSpPr>
        <p:spPr>
          <a:xfrm>
            <a:off x="9643943" y="3062764"/>
            <a:ext cx="4219456" cy="4565809"/>
          </a:xfrm>
          <a:prstGeom prst="roundRect">
            <a:avLst>
              <a:gd name="adj" fmla="val 2181"/>
            </a:avLst>
          </a:prstGeom>
          <a:solidFill>
            <a:srgbClr val="FFFFFF">
              <a:alpha val="95000"/>
            </a:srgbClr>
          </a:solidFill>
          <a:ln w="30480">
            <a:solidFill>
              <a:srgbClr val="C7C7D0"/>
            </a:solidFill>
            <a:prstDash val="solid"/>
          </a:ln>
        </p:spPr>
      </p:sp>
      <p:sp>
        <p:nvSpPr>
          <p:cNvPr id="20" name="Shape 17"/>
          <p:cNvSpPr/>
          <p:nvPr/>
        </p:nvSpPr>
        <p:spPr>
          <a:xfrm>
            <a:off x="9674423" y="3093244"/>
            <a:ext cx="4158496" cy="657344"/>
          </a:xfrm>
          <a:prstGeom prst="roundRect">
            <a:avLst>
              <a:gd name="adj" fmla="val 8436"/>
            </a:avLst>
          </a:prstGeom>
          <a:solidFill>
            <a:srgbClr val="E1E1EA"/>
          </a:solidFill>
          <a:ln/>
        </p:spPr>
      </p:sp>
      <p:sp>
        <p:nvSpPr>
          <p:cNvPr id="21" name="Text 18"/>
          <p:cNvSpPr/>
          <p:nvPr/>
        </p:nvSpPr>
        <p:spPr>
          <a:xfrm>
            <a:off x="11589306" y="3212663"/>
            <a:ext cx="328613" cy="410766"/>
          </a:xfrm>
          <a:prstGeom prst="rect">
            <a:avLst/>
          </a:prstGeom>
          <a:noFill/>
          <a:ln/>
        </p:spPr>
        <p:txBody>
          <a:bodyPr wrap="none" lIns="0" tIns="0" rIns="0" bIns="0" rtlCol="0" anchor="t"/>
          <a:lstStyle/>
          <a:p>
            <a:pPr marL="0" indent="0" algn="l">
              <a:lnSpc>
                <a:spcPts val="2550"/>
              </a:lnSpc>
              <a:buNone/>
            </a:pPr>
            <a:r>
              <a:rPr lang="en-US" sz="2550" dirty="0">
                <a:solidFill>
                  <a:srgbClr val="3C3939"/>
                </a:solidFill>
                <a:latin typeface="Raleway" pitchFamily="34" charset="0"/>
                <a:ea typeface="Raleway" pitchFamily="34" charset="-122"/>
                <a:cs typeface="Raleway" pitchFamily="34" charset="-120"/>
              </a:rPr>
              <a:t>3</a:t>
            </a:r>
            <a:endParaRPr lang="en-US" sz="2550" dirty="0"/>
          </a:p>
        </p:txBody>
      </p:sp>
      <p:sp>
        <p:nvSpPr>
          <p:cNvPr id="22" name="Text 19"/>
          <p:cNvSpPr/>
          <p:nvPr/>
        </p:nvSpPr>
        <p:spPr>
          <a:xfrm>
            <a:off x="9893498" y="3969663"/>
            <a:ext cx="2738914" cy="342305"/>
          </a:xfrm>
          <a:prstGeom prst="rect">
            <a:avLst/>
          </a:prstGeom>
          <a:noFill/>
          <a:ln/>
        </p:spPr>
        <p:txBody>
          <a:bodyPr wrap="none" lIns="0" tIns="0" rIns="0" bIns="0" rtlCol="0" anchor="t"/>
          <a:lstStyle/>
          <a:p>
            <a:pPr marL="0" indent="0" algn="l">
              <a:lnSpc>
                <a:spcPts val="2650"/>
              </a:lnSpc>
              <a:buNone/>
            </a:pPr>
            <a:r>
              <a:rPr lang="en-US" sz="2150" dirty="0">
                <a:solidFill>
                  <a:srgbClr val="3C3939"/>
                </a:solidFill>
                <a:latin typeface="Raleway" pitchFamily="34" charset="0"/>
                <a:ea typeface="Raleway" pitchFamily="34" charset="-122"/>
                <a:cs typeface="Raleway" pitchFamily="34" charset="-120"/>
              </a:rPr>
              <a:t>Urgency Detection</a:t>
            </a:r>
            <a:endParaRPr lang="en-US" sz="2150" dirty="0"/>
          </a:p>
        </p:txBody>
      </p:sp>
      <p:sp>
        <p:nvSpPr>
          <p:cNvPr id="23" name="Text 20"/>
          <p:cNvSpPr/>
          <p:nvPr/>
        </p:nvSpPr>
        <p:spPr>
          <a:xfrm>
            <a:off x="9893498" y="4443413"/>
            <a:ext cx="3720346" cy="350520"/>
          </a:xfrm>
          <a:prstGeom prst="rect">
            <a:avLst/>
          </a:prstGeom>
          <a:noFill/>
          <a:ln/>
        </p:spPr>
        <p:txBody>
          <a:bodyPr wrap="non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Tool:</a:t>
            </a:r>
            <a:r>
              <a:rPr lang="en-US" sz="1700" dirty="0">
                <a:solidFill>
                  <a:srgbClr val="3C3939"/>
                </a:solidFill>
                <a:latin typeface="Roboto" pitchFamily="34" charset="0"/>
                <a:ea typeface="Roboto" pitchFamily="34" charset="-122"/>
                <a:cs typeface="Roboto" pitchFamily="34" charset="-120"/>
              </a:rPr>
              <a:t> spaCy + Rule-Based Heuristics</a:t>
            </a:r>
            <a:endParaRPr lang="en-US" sz="1700" dirty="0"/>
          </a:p>
        </p:txBody>
      </p:sp>
      <p:sp>
        <p:nvSpPr>
          <p:cNvPr id="24" name="Text 21"/>
          <p:cNvSpPr/>
          <p:nvPr/>
        </p:nvSpPr>
        <p:spPr>
          <a:xfrm>
            <a:off x="9893498" y="4925378"/>
            <a:ext cx="3720346" cy="210312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Identifies high-priority complaints involving safety hazards, power outages, or emergencies. This ensures critical issues receive immediate attention from the appropriate response teams.</a:t>
            </a:r>
            <a:endParaRPr lang="en-US" sz="1700" dirty="0"/>
          </a:p>
        </p:txBody>
      </p:sp>
      <p:sp>
        <p:nvSpPr>
          <p:cNvPr id="26" name="Rectangle 25">
            <a:extLst>
              <a:ext uri="{FF2B5EF4-FFF2-40B4-BE49-F238E27FC236}">
                <a16:creationId xmlns:a16="http://schemas.microsoft.com/office/drawing/2014/main" id="{714AAF1D-5E11-5AD9-3A84-0AC595C5DAAB}"/>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 descr="RV College of Engineering Bengaluru | Top Engineering Institution">
            <a:extLst>
              <a:ext uri="{FF2B5EF4-FFF2-40B4-BE49-F238E27FC236}">
                <a16:creationId xmlns:a16="http://schemas.microsoft.com/office/drawing/2014/main" id="{9BEFD4E7-F305-DED7-9286-6355B9DF8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1D5C5E97-E8A0-F94A-86D1-61B6C2D49D94}"/>
              </a:ext>
            </a:extLst>
          </p:cNvPr>
          <p:cNvSpPr txBox="1"/>
          <p:nvPr/>
        </p:nvSpPr>
        <p:spPr>
          <a:xfrm>
            <a:off x="11965258" y="571142"/>
            <a:ext cx="2531327"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37966" y="411641"/>
            <a:ext cx="4822627" cy="460177"/>
          </a:xfrm>
          <a:prstGeom prst="rect">
            <a:avLst/>
          </a:prstGeom>
          <a:noFill/>
          <a:ln/>
        </p:spPr>
        <p:txBody>
          <a:bodyPr wrap="none" lIns="0" tIns="0" rIns="0" bIns="0" rtlCol="0" anchor="t"/>
          <a:lstStyle/>
          <a:p>
            <a:pPr marL="0" indent="0" algn="l">
              <a:lnSpc>
                <a:spcPts val="3600"/>
              </a:lnSpc>
              <a:buNone/>
            </a:pPr>
            <a:r>
              <a:rPr lang="en-US" sz="3600" dirty="0">
                <a:solidFill>
                  <a:srgbClr val="1B1B27"/>
                </a:solidFill>
                <a:latin typeface="Roboto" panose="02000000000000000000" pitchFamily="2" charset="0"/>
                <a:ea typeface="Roboto" panose="02000000000000000000" pitchFamily="2" charset="0"/>
                <a:cs typeface="Roboto" panose="02000000000000000000" pitchFamily="2" charset="0"/>
              </a:rPr>
              <a:t>Results And Metrics</a:t>
            </a:r>
            <a:endParaRPr lang="en-US" sz="3600" dirty="0">
              <a:latin typeface="Roboto" panose="02000000000000000000" pitchFamily="2" charset="0"/>
              <a:ea typeface="Roboto" panose="02000000000000000000" pitchFamily="2" charset="0"/>
              <a:cs typeface="Roboto" panose="02000000000000000000" pitchFamily="2" charset="0"/>
            </a:endParaRPr>
          </a:p>
        </p:txBody>
      </p:sp>
      <p:pic>
        <p:nvPicPr>
          <p:cNvPr id="3" name="Image 0" descr="preencoded.png"/>
          <p:cNvPicPr>
            <a:picLocks noChangeAspect="1"/>
          </p:cNvPicPr>
          <p:nvPr/>
        </p:nvPicPr>
        <p:blipFill>
          <a:blip r:embed="rId3"/>
          <a:stretch>
            <a:fillRect/>
          </a:stretch>
        </p:blipFill>
        <p:spPr>
          <a:xfrm>
            <a:off x="275689" y="1597699"/>
            <a:ext cx="4813944" cy="4813944"/>
          </a:xfrm>
          <a:prstGeom prst="rect">
            <a:avLst/>
          </a:prstGeom>
        </p:spPr>
      </p:pic>
      <p:sp>
        <p:nvSpPr>
          <p:cNvPr id="4" name="Text 1"/>
          <p:cNvSpPr/>
          <p:nvPr/>
        </p:nvSpPr>
        <p:spPr>
          <a:xfrm>
            <a:off x="378418" y="6708584"/>
            <a:ext cx="5108586" cy="1214357"/>
          </a:xfrm>
          <a:prstGeom prst="rect">
            <a:avLst/>
          </a:prstGeom>
          <a:noFill/>
          <a:ln/>
        </p:spPr>
        <p:txBody>
          <a:bodyPr wrap="square" lIns="0" tIns="0" rIns="0" bIns="0" rtlCol="0" anchor="t"/>
          <a:lstStyle/>
          <a:p>
            <a:pPr marL="0" indent="0" algn="just">
              <a:lnSpc>
                <a:spcPts val="1850"/>
              </a:lnSpc>
              <a:buNone/>
            </a:pPr>
            <a:r>
              <a:rPr lang="en-US" sz="1600" dirty="0">
                <a:solidFill>
                  <a:srgbClr val="3C3939"/>
                </a:solidFill>
                <a:latin typeface="Roboto" pitchFamily="34" charset="0"/>
                <a:ea typeface="Roboto" pitchFamily="34" charset="-122"/>
                <a:cs typeface="Roboto" pitchFamily="34" charset="-120"/>
              </a:rPr>
              <a:t>SnapFix delivers exceptional accuracy across all AI components, translating directly into operational efficiency and faster complaint resolution for municipalities.</a:t>
            </a:r>
            <a:endParaRPr lang="en-US" sz="1600" dirty="0"/>
          </a:p>
        </p:txBody>
      </p:sp>
      <p:sp>
        <p:nvSpPr>
          <p:cNvPr id="5" name="Text 2"/>
          <p:cNvSpPr/>
          <p:nvPr/>
        </p:nvSpPr>
        <p:spPr>
          <a:xfrm>
            <a:off x="6099406" y="1784472"/>
            <a:ext cx="7642258" cy="706874"/>
          </a:xfrm>
          <a:prstGeom prst="rect">
            <a:avLst/>
          </a:prstGeom>
          <a:noFill/>
          <a:ln/>
        </p:spPr>
        <p:txBody>
          <a:bodyPr wrap="square" lIns="0" tIns="0" rIns="0" bIns="0" rtlCol="0" anchor="t"/>
          <a:lstStyle/>
          <a:p>
            <a:pPr marL="0" indent="0" algn="just">
              <a:lnSpc>
                <a:spcPts val="1850"/>
              </a:lnSpc>
              <a:buNone/>
            </a:pPr>
            <a:r>
              <a:rPr lang="en-US" sz="1600" dirty="0">
                <a:solidFill>
                  <a:srgbClr val="3C3939"/>
                </a:solidFill>
                <a:latin typeface="Roboto" pitchFamily="34" charset="0"/>
                <a:ea typeface="Roboto" pitchFamily="34" charset="-122"/>
                <a:cs typeface="Roboto" pitchFamily="34" charset="-120"/>
              </a:rPr>
              <a:t>The system has achieved remarkable precision in both image and text classification, while dramatically reducing the manual workload for municipal staff.</a:t>
            </a:r>
            <a:endParaRPr lang="en-US" sz="1600" dirty="0"/>
          </a:p>
        </p:txBody>
      </p:sp>
      <p:sp>
        <p:nvSpPr>
          <p:cNvPr id="6" name="Text 3"/>
          <p:cNvSpPr/>
          <p:nvPr/>
        </p:nvSpPr>
        <p:spPr>
          <a:xfrm>
            <a:off x="6358499" y="2650347"/>
            <a:ext cx="2981563" cy="485775"/>
          </a:xfrm>
          <a:prstGeom prst="rect">
            <a:avLst/>
          </a:prstGeom>
          <a:noFill/>
          <a:ln/>
        </p:spPr>
        <p:txBody>
          <a:bodyPr wrap="none" lIns="0" tIns="0" rIns="0" bIns="0" rtlCol="0" anchor="t"/>
          <a:lstStyle/>
          <a:p>
            <a:pPr marL="0" indent="0" algn="ctr">
              <a:lnSpc>
                <a:spcPts val="3800"/>
              </a:lnSpc>
              <a:buNone/>
            </a:pPr>
            <a:r>
              <a:rPr lang="en-US" sz="3800" dirty="0">
                <a:solidFill>
                  <a:srgbClr val="3C3939"/>
                </a:solidFill>
                <a:latin typeface="Times New Roman" panose="02020603050405020304" pitchFamily="18" charset="0"/>
                <a:ea typeface="Raleway" pitchFamily="34" charset="-122"/>
                <a:cs typeface="Times New Roman" panose="02020603050405020304" pitchFamily="18" charset="0"/>
              </a:rPr>
              <a:t>93%</a:t>
            </a:r>
            <a:endParaRPr lang="en-US" sz="3800" dirty="0">
              <a:latin typeface="Times New Roman" panose="02020603050405020304" pitchFamily="18" charset="0"/>
              <a:cs typeface="Times New Roman" panose="02020603050405020304" pitchFamily="18" charset="0"/>
            </a:endParaRPr>
          </a:p>
        </p:txBody>
      </p:sp>
      <p:sp>
        <p:nvSpPr>
          <p:cNvPr id="7" name="Text 4"/>
          <p:cNvSpPr/>
          <p:nvPr/>
        </p:nvSpPr>
        <p:spPr>
          <a:xfrm>
            <a:off x="6929046" y="3320075"/>
            <a:ext cx="1840468" cy="230029"/>
          </a:xfrm>
          <a:prstGeom prst="rect">
            <a:avLst/>
          </a:prstGeom>
          <a:noFill/>
          <a:ln/>
        </p:spPr>
        <p:txBody>
          <a:bodyPr wrap="none" lIns="0" tIns="0" rIns="0" bIns="0" rtlCol="0" anchor="t"/>
          <a:lstStyle/>
          <a:p>
            <a:pPr marL="0" indent="0" algn="ctr">
              <a:lnSpc>
                <a:spcPts val="1800"/>
              </a:lnSpc>
              <a:buNone/>
            </a:pPr>
            <a:r>
              <a:rPr lang="en-US" sz="1400" dirty="0">
                <a:solidFill>
                  <a:srgbClr val="3C3939"/>
                </a:solidFill>
                <a:latin typeface="Raleway" pitchFamily="34" charset="0"/>
                <a:ea typeface="Raleway" pitchFamily="34" charset="-122"/>
                <a:cs typeface="Raleway" pitchFamily="34" charset="-120"/>
              </a:rPr>
              <a:t>Image Accuracy</a:t>
            </a:r>
            <a:endParaRPr lang="en-US" sz="1400" dirty="0"/>
          </a:p>
        </p:txBody>
      </p:sp>
      <p:sp>
        <p:nvSpPr>
          <p:cNvPr id="8" name="Text 5"/>
          <p:cNvSpPr/>
          <p:nvPr/>
        </p:nvSpPr>
        <p:spPr>
          <a:xfrm>
            <a:off x="6358499" y="3638329"/>
            <a:ext cx="2981563" cy="706874"/>
          </a:xfrm>
          <a:prstGeom prst="rect">
            <a:avLst/>
          </a:prstGeom>
          <a:noFill/>
          <a:ln/>
        </p:spPr>
        <p:txBody>
          <a:bodyPr wrap="square" lIns="0" tIns="0" rIns="0" bIns="0" rtlCol="0" anchor="t"/>
          <a:lstStyle/>
          <a:p>
            <a:pPr marL="0" indent="0" algn="ctr">
              <a:lnSpc>
                <a:spcPts val="1850"/>
              </a:lnSpc>
              <a:buNone/>
            </a:pPr>
            <a:r>
              <a:rPr lang="en-US" sz="1150" dirty="0">
                <a:solidFill>
                  <a:srgbClr val="3C3939"/>
                </a:solidFill>
                <a:latin typeface="Roboto" pitchFamily="34" charset="0"/>
                <a:ea typeface="Roboto" pitchFamily="34" charset="-122"/>
                <a:cs typeface="Roboto" pitchFamily="34" charset="-120"/>
              </a:rPr>
              <a:t>Overall classification accuracy with consistent performance across all infrastructure categories</a:t>
            </a:r>
            <a:endParaRPr lang="en-US" sz="1150" dirty="0"/>
          </a:p>
        </p:txBody>
      </p:sp>
      <p:sp>
        <p:nvSpPr>
          <p:cNvPr id="9" name="Text 6"/>
          <p:cNvSpPr/>
          <p:nvPr/>
        </p:nvSpPr>
        <p:spPr>
          <a:xfrm>
            <a:off x="6358499" y="6594353"/>
            <a:ext cx="2981563" cy="485775"/>
          </a:xfrm>
          <a:prstGeom prst="rect">
            <a:avLst/>
          </a:prstGeom>
          <a:noFill/>
          <a:ln/>
        </p:spPr>
        <p:txBody>
          <a:bodyPr wrap="none" lIns="0" tIns="0" rIns="0" bIns="0" rtlCol="0" anchor="t"/>
          <a:lstStyle/>
          <a:p>
            <a:pPr marL="0" indent="0" algn="ctr">
              <a:lnSpc>
                <a:spcPts val="3800"/>
              </a:lnSpc>
              <a:buNone/>
            </a:pPr>
            <a:r>
              <a:rPr lang="en-US" sz="3800" dirty="0">
                <a:solidFill>
                  <a:srgbClr val="3C3939"/>
                </a:solidFill>
                <a:latin typeface="Times New Roman" panose="02020603050405020304" pitchFamily="18" charset="0"/>
                <a:ea typeface="Raleway" pitchFamily="34" charset="-122"/>
                <a:cs typeface="Times New Roman" panose="02020603050405020304" pitchFamily="18" charset="0"/>
              </a:rPr>
              <a:t>99.8%</a:t>
            </a:r>
            <a:endParaRPr lang="en-US" sz="3800" dirty="0">
              <a:latin typeface="Times New Roman" panose="02020603050405020304" pitchFamily="18" charset="0"/>
              <a:cs typeface="Times New Roman" panose="02020603050405020304" pitchFamily="18" charset="0"/>
            </a:endParaRPr>
          </a:p>
        </p:txBody>
      </p:sp>
      <p:sp>
        <p:nvSpPr>
          <p:cNvPr id="10" name="Text 7"/>
          <p:cNvSpPr/>
          <p:nvPr/>
        </p:nvSpPr>
        <p:spPr>
          <a:xfrm>
            <a:off x="6929047" y="7264080"/>
            <a:ext cx="1840468" cy="230029"/>
          </a:xfrm>
          <a:prstGeom prst="rect">
            <a:avLst/>
          </a:prstGeom>
          <a:noFill/>
          <a:ln/>
        </p:spPr>
        <p:txBody>
          <a:bodyPr wrap="none" lIns="0" tIns="0" rIns="0" bIns="0" rtlCol="0" anchor="t"/>
          <a:lstStyle/>
          <a:p>
            <a:pPr marL="0" indent="0" algn="ctr">
              <a:lnSpc>
                <a:spcPts val="1800"/>
              </a:lnSpc>
              <a:buNone/>
            </a:pPr>
            <a:r>
              <a:rPr lang="en-US" sz="1400" dirty="0">
                <a:solidFill>
                  <a:srgbClr val="3C3939"/>
                </a:solidFill>
                <a:latin typeface="Raleway" pitchFamily="34" charset="0"/>
                <a:ea typeface="Raleway" pitchFamily="34" charset="-122"/>
                <a:cs typeface="Raleway" pitchFamily="34" charset="-120"/>
              </a:rPr>
              <a:t>Text Precision</a:t>
            </a:r>
            <a:endParaRPr lang="en-US" sz="1400" dirty="0"/>
          </a:p>
        </p:txBody>
      </p:sp>
      <p:sp>
        <p:nvSpPr>
          <p:cNvPr id="11" name="Text 8"/>
          <p:cNvSpPr/>
          <p:nvPr/>
        </p:nvSpPr>
        <p:spPr>
          <a:xfrm>
            <a:off x="6358499" y="7582334"/>
            <a:ext cx="2981563" cy="471249"/>
          </a:xfrm>
          <a:prstGeom prst="rect">
            <a:avLst/>
          </a:prstGeom>
          <a:noFill/>
          <a:ln/>
        </p:spPr>
        <p:txBody>
          <a:bodyPr wrap="square" lIns="0" tIns="0" rIns="0" bIns="0" rtlCol="0" anchor="t"/>
          <a:lstStyle/>
          <a:p>
            <a:pPr marL="0" indent="0" algn="ctr">
              <a:lnSpc>
                <a:spcPts val="1850"/>
              </a:lnSpc>
              <a:buNone/>
            </a:pPr>
            <a:r>
              <a:rPr lang="en-US" sz="1150" dirty="0">
                <a:solidFill>
                  <a:srgbClr val="3C3939"/>
                </a:solidFill>
                <a:latin typeface="Roboto" pitchFamily="34" charset="0"/>
                <a:ea typeface="Roboto" pitchFamily="34" charset="-122"/>
                <a:cs typeface="Roboto" pitchFamily="34" charset="-120"/>
              </a:rPr>
              <a:t>Near-perfect precision, recall, and F1-score for complaint text analysis</a:t>
            </a:r>
            <a:endParaRPr lang="en-US" sz="1150" dirty="0"/>
          </a:p>
        </p:txBody>
      </p:sp>
      <p:sp>
        <p:nvSpPr>
          <p:cNvPr id="12" name="Text 9"/>
          <p:cNvSpPr/>
          <p:nvPr/>
        </p:nvSpPr>
        <p:spPr>
          <a:xfrm>
            <a:off x="6358499" y="4662049"/>
            <a:ext cx="2981563" cy="485775"/>
          </a:xfrm>
          <a:prstGeom prst="rect">
            <a:avLst/>
          </a:prstGeom>
          <a:noFill/>
          <a:ln/>
        </p:spPr>
        <p:txBody>
          <a:bodyPr wrap="none" lIns="0" tIns="0" rIns="0" bIns="0" rtlCol="0" anchor="t"/>
          <a:lstStyle/>
          <a:p>
            <a:pPr marL="0" indent="0" algn="ctr">
              <a:lnSpc>
                <a:spcPts val="3800"/>
              </a:lnSpc>
              <a:buNone/>
            </a:pPr>
            <a:r>
              <a:rPr lang="en-US" sz="3800" dirty="0">
                <a:solidFill>
                  <a:srgbClr val="3C3939"/>
                </a:solidFill>
                <a:latin typeface="Times New Roman" panose="02020603050405020304" pitchFamily="18" charset="0"/>
                <a:ea typeface="Raleway" pitchFamily="34" charset="-122"/>
                <a:cs typeface="Times New Roman" panose="02020603050405020304" pitchFamily="18" charset="0"/>
              </a:rPr>
              <a:t>85%</a:t>
            </a:r>
            <a:endParaRPr lang="en-US" sz="3800" dirty="0">
              <a:latin typeface="Times New Roman" panose="02020603050405020304" pitchFamily="18" charset="0"/>
              <a:cs typeface="Times New Roman" panose="02020603050405020304" pitchFamily="18" charset="0"/>
            </a:endParaRPr>
          </a:p>
        </p:txBody>
      </p:sp>
      <p:sp>
        <p:nvSpPr>
          <p:cNvPr id="13" name="Text 10"/>
          <p:cNvSpPr/>
          <p:nvPr/>
        </p:nvSpPr>
        <p:spPr>
          <a:xfrm>
            <a:off x="6929047" y="5331776"/>
            <a:ext cx="1840468" cy="230029"/>
          </a:xfrm>
          <a:prstGeom prst="rect">
            <a:avLst/>
          </a:prstGeom>
          <a:noFill/>
          <a:ln/>
        </p:spPr>
        <p:txBody>
          <a:bodyPr wrap="none" lIns="0" tIns="0" rIns="0" bIns="0" rtlCol="0" anchor="t"/>
          <a:lstStyle/>
          <a:p>
            <a:pPr marL="0" indent="0" algn="ctr">
              <a:lnSpc>
                <a:spcPts val="1800"/>
              </a:lnSpc>
              <a:buNone/>
            </a:pPr>
            <a:r>
              <a:rPr lang="en-US" sz="1400" dirty="0">
                <a:solidFill>
                  <a:srgbClr val="3C3939"/>
                </a:solidFill>
                <a:latin typeface="Raleway" pitchFamily="34" charset="0"/>
                <a:ea typeface="Raleway" pitchFamily="34" charset="-122"/>
                <a:cs typeface="Raleway" pitchFamily="34" charset="-120"/>
              </a:rPr>
              <a:t>Auto-Routing</a:t>
            </a:r>
            <a:endParaRPr lang="en-US" sz="1400" dirty="0"/>
          </a:p>
        </p:txBody>
      </p:sp>
      <p:sp>
        <p:nvSpPr>
          <p:cNvPr id="14" name="Text 11"/>
          <p:cNvSpPr/>
          <p:nvPr/>
        </p:nvSpPr>
        <p:spPr>
          <a:xfrm>
            <a:off x="6358499" y="5650030"/>
            <a:ext cx="2981563" cy="471249"/>
          </a:xfrm>
          <a:prstGeom prst="rect">
            <a:avLst/>
          </a:prstGeom>
          <a:noFill/>
          <a:ln/>
        </p:spPr>
        <p:txBody>
          <a:bodyPr wrap="square" lIns="0" tIns="0" rIns="0" bIns="0" rtlCol="0" anchor="t"/>
          <a:lstStyle/>
          <a:p>
            <a:pPr marL="0" indent="0" algn="ctr">
              <a:lnSpc>
                <a:spcPts val="1850"/>
              </a:lnSpc>
              <a:buNone/>
            </a:pPr>
            <a:r>
              <a:rPr lang="en-US" sz="1150" dirty="0">
                <a:solidFill>
                  <a:srgbClr val="3C3939"/>
                </a:solidFill>
                <a:latin typeface="Roboto" pitchFamily="34" charset="0"/>
                <a:ea typeface="Roboto" pitchFamily="34" charset="-122"/>
                <a:cs typeface="Roboto" pitchFamily="34" charset="-120"/>
              </a:rPr>
              <a:t>Complaints routed automatically without human intervention, reducing triage time</a:t>
            </a:r>
            <a:endParaRPr lang="en-US" sz="1150" dirty="0"/>
          </a:p>
        </p:txBody>
      </p:sp>
      <p:sp>
        <p:nvSpPr>
          <p:cNvPr id="16" name="Rectangle 15">
            <a:extLst>
              <a:ext uri="{FF2B5EF4-FFF2-40B4-BE49-F238E27FC236}">
                <a16:creationId xmlns:a16="http://schemas.microsoft.com/office/drawing/2014/main" id="{C53A3D93-FF4D-1D61-9737-B3849F171761}"/>
              </a:ext>
            </a:extLst>
          </p:cNvPr>
          <p:cNvSpPr/>
          <p:nvPr/>
        </p:nvSpPr>
        <p:spPr>
          <a:xfrm>
            <a:off x="12812751" y="7775276"/>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2" descr="RV College of Engineering Bengaluru | Top Engineering Institution">
            <a:extLst>
              <a:ext uri="{FF2B5EF4-FFF2-40B4-BE49-F238E27FC236}">
                <a16:creationId xmlns:a16="http://schemas.microsoft.com/office/drawing/2014/main" id="{D87A7BBE-9EFE-BA7B-7EB6-B77B93408B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455CC73D-9DCB-8E89-A477-0FBFDC9249C6}"/>
              </a:ext>
            </a:extLst>
          </p:cNvPr>
          <p:cNvSpPr txBox="1"/>
          <p:nvPr/>
        </p:nvSpPr>
        <p:spPr>
          <a:xfrm>
            <a:off x="12029516" y="483650"/>
            <a:ext cx="237521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21" name="TextBox 20">
            <a:extLst>
              <a:ext uri="{FF2B5EF4-FFF2-40B4-BE49-F238E27FC236}">
                <a16:creationId xmlns:a16="http://schemas.microsoft.com/office/drawing/2014/main" id="{5F511E61-A3E0-8244-D73B-C256350F8EE2}"/>
              </a:ext>
            </a:extLst>
          </p:cNvPr>
          <p:cNvSpPr txBox="1"/>
          <p:nvPr/>
        </p:nvSpPr>
        <p:spPr>
          <a:xfrm>
            <a:off x="9797650" y="2790662"/>
            <a:ext cx="4463732" cy="147732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Image Model Performance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Accuracy: </a:t>
            </a:r>
            <a:r>
              <a:rPr lang="en-US" b="1" dirty="0">
                <a:latin typeface="Times New Roman" panose="02020603050405020304" pitchFamily="18" charset="0"/>
                <a:cs typeface="Times New Roman" panose="02020603050405020304" pitchFamily="18" charset="0"/>
              </a:rPr>
              <a:t>93.36%</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precision and recall across all classes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Consistent performance despite class diversity</a:t>
            </a:r>
          </a:p>
        </p:txBody>
      </p:sp>
      <p:sp>
        <p:nvSpPr>
          <p:cNvPr id="23" name="TextBox 22">
            <a:extLst>
              <a:ext uri="{FF2B5EF4-FFF2-40B4-BE49-F238E27FC236}">
                <a16:creationId xmlns:a16="http://schemas.microsoft.com/office/drawing/2014/main" id="{7323C334-AA94-A829-DF04-CB23CEA8D133}"/>
              </a:ext>
            </a:extLst>
          </p:cNvPr>
          <p:cNvSpPr txBox="1"/>
          <p:nvPr/>
        </p:nvSpPr>
        <p:spPr>
          <a:xfrm>
            <a:off x="9797650" y="6893944"/>
            <a:ext cx="2700899" cy="120032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Text Model Performance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Precision: </a:t>
            </a:r>
            <a:r>
              <a:rPr lang="en-US" b="1" dirty="0">
                <a:latin typeface="Times New Roman" panose="02020603050405020304" pitchFamily="18" charset="0"/>
                <a:cs typeface="Times New Roman" panose="02020603050405020304" pitchFamily="18" charset="0"/>
              </a:rPr>
              <a:t>0.9984</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Recall: </a:t>
            </a:r>
            <a:r>
              <a:rPr lang="en-US" b="1" dirty="0">
                <a:latin typeface="Times New Roman" panose="02020603050405020304" pitchFamily="18" charset="0"/>
                <a:cs typeface="Times New Roman" panose="02020603050405020304" pitchFamily="18" charset="0"/>
              </a:rPr>
              <a:t>0.9983</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F1-Score: </a:t>
            </a:r>
            <a:r>
              <a:rPr lang="en-US" b="1" dirty="0">
                <a:latin typeface="Times New Roman" panose="02020603050405020304" pitchFamily="18" charset="0"/>
                <a:cs typeface="Times New Roman" panose="02020603050405020304" pitchFamily="18" charset="0"/>
              </a:rPr>
              <a:t>0.9983</a:t>
            </a:r>
            <a:endParaRPr lang="en-US"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74387204-6AD4-78C5-BC5C-067FF46818B3}"/>
              </a:ext>
            </a:extLst>
          </p:cNvPr>
          <p:cNvSpPr txBox="1"/>
          <p:nvPr/>
        </p:nvSpPr>
        <p:spPr>
          <a:xfrm>
            <a:off x="9797650" y="4846625"/>
            <a:ext cx="4907665" cy="120032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Operational Impact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~85% complaints routed automatically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Significant reduction in manual triage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complaint acknowledgment and resolution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D8C7051-CA8C-E648-A334-E48BACE13D6E}"/>
              </a:ext>
            </a:extLst>
          </p:cNvPr>
          <p:cNvSpPr/>
          <p:nvPr/>
        </p:nvSpPr>
        <p:spPr>
          <a:xfrm>
            <a:off x="12816282" y="7714238"/>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 name="Picture 2" descr="RV College of Engineering Bengaluru | Top Engineering Institution">
            <a:extLst>
              <a:ext uri="{FF2B5EF4-FFF2-40B4-BE49-F238E27FC236}">
                <a16:creationId xmlns:a16="http://schemas.microsoft.com/office/drawing/2014/main" id="{644CED11-43CA-157B-968B-C4F7158ED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5" name="Text 1"/>
          <p:cNvSpPr/>
          <p:nvPr/>
        </p:nvSpPr>
        <p:spPr>
          <a:xfrm>
            <a:off x="5431651" y="518830"/>
            <a:ext cx="444460" cy="198239"/>
          </a:xfrm>
          <a:prstGeom prst="rect">
            <a:avLst/>
          </a:prstGeom>
          <a:noFill/>
          <a:ln/>
        </p:spPr>
        <p:txBody>
          <a:bodyPr wrap="none" lIns="0" tIns="0" rIns="0" bIns="0" rtlCol="0" anchor="t"/>
          <a:lstStyle/>
          <a:p>
            <a:pPr marL="0" indent="0" algn="l">
              <a:lnSpc>
                <a:spcPts val="1550"/>
              </a:lnSpc>
              <a:buNone/>
            </a:pPr>
            <a:endParaRPr lang="en-US" sz="1050" dirty="0"/>
          </a:p>
        </p:txBody>
      </p:sp>
      <p:sp>
        <p:nvSpPr>
          <p:cNvPr id="6" name="Text 2"/>
          <p:cNvSpPr/>
          <p:nvPr/>
        </p:nvSpPr>
        <p:spPr>
          <a:xfrm>
            <a:off x="5147092" y="561614"/>
            <a:ext cx="5816084" cy="484108"/>
          </a:xfrm>
          <a:prstGeom prst="rect">
            <a:avLst/>
          </a:prstGeom>
          <a:noFill/>
          <a:ln/>
        </p:spPr>
        <p:txBody>
          <a:bodyPr wrap="none" lIns="0" tIns="0" rIns="0" bIns="0" rtlCol="0" anchor="t"/>
          <a:lstStyle/>
          <a:p>
            <a:pPr marL="0" indent="0" algn="l">
              <a:lnSpc>
                <a:spcPts val="3800"/>
              </a:lnSpc>
              <a:buNone/>
            </a:pPr>
            <a:r>
              <a:rPr lang="en-US" sz="3600" dirty="0">
                <a:solidFill>
                  <a:srgbClr val="1B1B27"/>
                </a:solidFill>
                <a:latin typeface="Roboto" panose="02000000000000000000" pitchFamily="2" charset="0"/>
                <a:ea typeface="Roboto" panose="02000000000000000000" pitchFamily="2" charset="0"/>
                <a:cs typeface="Roboto" panose="02000000000000000000" pitchFamily="2" charset="0"/>
              </a:rPr>
              <a:t>Governance Impact</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7" name="Text 3"/>
          <p:cNvSpPr/>
          <p:nvPr/>
        </p:nvSpPr>
        <p:spPr>
          <a:xfrm>
            <a:off x="2711193" y="1883917"/>
            <a:ext cx="9797534" cy="495538"/>
          </a:xfrm>
          <a:prstGeom prst="rect">
            <a:avLst/>
          </a:prstGeom>
          <a:noFill/>
          <a:ln/>
        </p:spPr>
        <p:txBody>
          <a:bodyPr wrap="square" lIns="0" tIns="0" rIns="0" bIns="0" rtlCol="0" anchor="t"/>
          <a:lstStyle/>
          <a:p>
            <a:pPr marL="0" indent="0" algn="just">
              <a:lnSpc>
                <a:spcPts val="1950"/>
              </a:lnSpc>
              <a:buNone/>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SnapFix enables a fundamental shift from reactive complaint handling to proactive, data-driven municipal management aligned with UN Sustainable Development Goal 11.</a:t>
            </a:r>
            <a:endParaRPr lang="en-US" sz="2000" dirty="0">
              <a:latin typeface="Times New Roman" panose="02020603050405020304" pitchFamily="18" charset="0"/>
              <a:cs typeface="Times New Roman" panose="02020603050405020304" pitchFamily="18" charset="0"/>
            </a:endParaRPr>
          </a:p>
        </p:txBody>
      </p:sp>
      <p:sp>
        <p:nvSpPr>
          <p:cNvPr id="8" name="Shape 4"/>
          <p:cNvSpPr/>
          <p:nvPr/>
        </p:nvSpPr>
        <p:spPr>
          <a:xfrm>
            <a:off x="2553630" y="3140737"/>
            <a:ext cx="5056330" cy="1936194"/>
          </a:xfrm>
          <a:prstGeom prst="roundRect">
            <a:avLst>
              <a:gd name="adj" fmla="val 3665"/>
            </a:avLst>
          </a:prstGeom>
          <a:solidFill>
            <a:srgbClr val="E1E1EA"/>
          </a:solidFill>
          <a:ln w="7620">
            <a:solidFill>
              <a:srgbClr val="C7C7D0"/>
            </a:solidFill>
            <a:prstDash val="solid"/>
          </a:ln>
        </p:spPr>
      </p:sp>
      <p:sp>
        <p:nvSpPr>
          <p:cNvPr id="9" name="Shape 5"/>
          <p:cNvSpPr/>
          <p:nvPr/>
        </p:nvSpPr>
        <p:spPr>
          <a:xfrm>
            <a:off x="2951163" y="3272365"/>
            <a:ext cx="464701" cy="464701"/>
          </a:xfrm>
          <a:prstGeom prst="roundRect">
            <a:avLst>
              <a:gd name="adj" fmla="val 19675201"/>
            </a:avLst>
          </a:prstGeom>
          <a:solidFill>
            <a:srgbClr val="1B1B27"/>
          </a:solidFill>
          <a:ln/>
        </p:spPr>
      </p:sp>
      <p:pic>
        <p:nvPicPr>
          <p:cNvPr id="10"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917" y="3431036"/>
            <a:ext cx="209074" cy="209074"/>
          </a:xfrm>
          <a:prstGeom prst="rect">
            <a:avLst/>
          </a:prstGeom>
        </p:spPr>
      </p:pic>
      <p:sp>
        <p:nvSpPr>
          <p:cNvPr id="11" name="Text 6"/>
          <p:cNvSpPr/>
          <p:nvPr/>
        </p:nvSpPr>
        <p:spPr>
          <a:xfrm>
            <a:off x="2932466" y="3792764"/>
            <a:ext cx="2249686" cy="241935"/>
          </a:xfrm>
          <a:prstGeom prst="rect">
            <a:avLst/>
          </a:prstGeom>
          <a:noFill/>
          <a:ln/>
        </p:spPr>
        <p:txBody>
          <a:bodyPr wrap="none" lIns="0" tIns="0" rIns="0" bIns="0" rtlCol="0" anchor="t"/>
          <a:lstStyle/>
          <a:p>
            <a:pPr marL="0" indent="0" algn="l">
              <a:lnSpc>
                <a:spcPts val="1900"/>
              </a:lnSpc>
              <a:buNone/>
            </a:pPr>
            <a:r>
              <a:rPr lang="en-US" dirty="0">
                <a:solidFill>
                  <a:srgbClr val="3C3939"/>
                </a:solidFill>
                <a:latin typeface="Raleway" pitchFamily="34" charset="0"/>
                <a:ea typeface="Raleway" pitchFamily="34" charset="-122"/>
                <a:cs typeface="Raleway" pitchFamily="34" charset="-120"/>
              </a:rPr>
              <a:t>Participatory Governance</a:t>
            </a:r>
            <a:endParaRPr lang="en-US" dirty="0"/>
          </a:p>
        </p:txBody>
      </p:sp>
      <p:sp>
        <p:nvSpPr>
          <p:cNvPr id="12" name="Text 7"/>
          <p:cNvSpPr/>
          <p:nvPr/>
        </p:nvSpPr>
        <p:spPr>
          <a:xfrm>
            <a:off x="2951163" y="4207896"/>
            <a:ext cx="4496276" cy="495538"/>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Citizens become active sensors in their communities, contributing real-time infrastructure intelligence</a:t>
            </a:r>
            <a:endParaRPr lang="en-US" sz="1600" dirty="0"/>
          </a:p>
        </p:txBody>
      </p:sp>
      <p:sp>
        <p:nvSpPr>
          <p:cNvPr id="13" name="Shape 8"/>
          <p:cNvSpPr/>
          <p:nvPr/>
        </p:nvSpPr>
        <p:spPr>
          <a:xfrm>
            <a:off x="7756530" y="3140737"/>
            <a:ext cx="4848463" cy="1936194"/>
          </a:xfrm>
          <a:prstGeom prst="roundRect">
            <a:avLst>
              <a:gd name="adj" fmla="val 3665"/>
            </a:avLst>
          </a:prstGeom>
          <a:solidFill>
            <a:srgbClr val="E1E1EA"/>
          </a:solidFill>
          <a:ln w="7620">
            <a:solidFill>
              <a:srgbClr val="C7C7D0"/>
            </a:solidFill>
            <a:prstDash val="solid"/>
          </a:ln>
        </p:spPr>
        <p:txBody>
          <a:bodyPr/>
          <a:lstStyle/>
          <a:p>
            <a:endParaRPr lang="en-IN"/>
          </a:p>
        </p:txBody>
      </p:sp>
      <p:sp>
        <p:nvSpPr>
          <p:cNvPr id="14" name="Shape 9"/>
          <p:cNvSpPr/>
          <p:nvPr/>
        </p:nvSpPr>
        <p:spPr>
          <a:xfrm>
            <a:off x="7921964" y="3258485"/>
            <a:ext cx="464701" cy="464701"/>
          </a:xfrm>
          <a:prstGeom prst="roundRect">
            <a:avLst>
              <a:gd name="adj" fmla="val 19675201"/>
            </a:avLst>
          </a:prstGeom>
          <a:solidFill>
            <a:srgbClr val="1B1B27"/>
          </a:solidFill>
          <a:ln/>
        </p:spPr>
        <p:txBody>
          <a:bodyPr/>
          <a:lstStyle/>
          <a:p>
            <a:endParaRPr lang="en-IN" dirty="0"/>
          </a:p>
        </p:txBody>
      </p:sp>
      <p:pic>
        <p:nvPicPr>
          <p:cNvPr id="15"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55134" y="3418246"/>
            <a:ext cx="209074" cy="209074"/>
          </a:xfrm>
          <a:prstGeom prst="rect">
            <a:avLst/>
          </a:prstGeom>
        </p:spPr>
      </p:pic>
      <p:sp>
        <p:nvSpPr>
          <p:cNvPr id="16" name="Text 10"/>
          <p:cNvSpPr/>
          <p:nvPr/>
        </p:nvSpPr>
        <p:spPr>
          <a:xfrm>
            <a:off x="7855767" y="3787081"/>
            <a:ext cx="1936194" cy="241935"/>
          </a:xfrm>
          <a:prstGeom prst="rect">
            <a:avLst/>
          </a:prstGeom>
          <a:noFill/>
          <a:ln/>
        </p:spPr>
        <p:txBody>
          <a:bodyPr wrap="none" lIns="0" tIns="0" rIns="0" bIns="0" rtlCol="0" anchor="t"/>
          <a:lstStyle/>
          <a:p>
            <a:pPr marL="0" indent="0" algn="l">
              <a:lnSpc>
                <a:spcPts val="1900"/>
              </a:lnSpc>
              <a:buNone/>
            </a:pPr>
            <a:r>
              <a:rPr lang="en-US" dirty="0">
                <a:solidFill>
                  <a:srgbClr val="3C3939"/>
                </a:solidFill>
                <a:latin typeface="Raleway" pitchFamily="34" charset="0"/>
                <a:ea typeface="Raleway" pitchFamily="34" charset="-122"/>
                <a:cs typeface="Raleway" pitchFamily="34" charset="-120"/>
              </a:rPr>
              <a:t>Radical Transparency</a:t>
            </a:r>
            <a:endParaRPr lang="en-US" dirty="0"/>
          </a:p>
        </p:txBody>
      </p:sp>
      <p:sp>
        <p:nvSpPr>
          <p:cNvPr id="17" name="Text 11"/>
          <p:cNvSpPr/>
          <p:nvPr/>
        </p:nvSpPr>
        <p:spPr>
          <a:xfrm>
            <a:off x="7863648" y="4179822"/>
            <a:ext cx="4496276" cy="495538"/>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Real-time tracking builds accountability and restores citizen trust in municipal responsiveness</a:t>
            </a:r>
            <a:endParaRPr lang="en-US" sz="1600" dirty="0"/>
          </a:p>
        </p:txBody>
      </p:sp>
      <p:sp>
        <p:nvSpPr>
          <p:cNvPr id="18" name="Shape 12"/>
          <p:cNvSpPr/>
          <p:nvPr/>
        </p:nvSpPr>
        <p:spPr>
          <a:xfrm>
            <a:off x="2553630" y="5208560"/>
            <a:ext cx="5056330" cy="1973126"/>
          </a:xfrm>
          <a:prstGeom prst="roundRect">
            <a:avLst>
              <a:gd name="adj" fmla="val 3665"/>
            </a:avLst>
          </a:prstGeom>
          <a:solidFill>
            <a:srgbClr val="E1E1EA"/>
          </a:solidFill>
          <a:ln w="7620">
            <a:solidFill>
              <a:srgbClr val="C7C7D0"/>
            </a:solidFill>
            <a:prstDash val="solid"/>
          </a:ln>
        </p:spPr>
      </p:sp>
      <p:sp>
        <p:nvSpPr>
          <p:cNvPr id="19" name="Shape 13"/>
          <p:cNvSpPr/>
          <p:nvPr/>
        </p:nvSpPr>
        <p:spPr>
          <a:xfrm>
            <a:off x="2816709" y="5451726"/>
            <a:ext cx="452361" cy="473565"/>
          </a:xfrm>
          <a:prstGeom prst="roundRect">
            <a:avLst>
              <a:gd name="adj" fmla="val 19675201"/>
            </a:avLst>
          </a:prstGeom>
          <a:solidFill>
            <a:srgbClr val="1B1B27"/>
          </a:solidFill>
          <a:ln/>
        </p:spPr>
      </p:sp>
      <p:pic>
        <p:nvPicPr>
          <p:cNvPr id="20"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35612" y="5584356"/>
            <a:ext cx="213062" cy="213062"/>
          </a:xfrm>
          <a:prstGeom prst="rect">
            <a:avLst/>
          </a:prstGeom>
        </p:spPr>
      </p:pic>
      <p:sp>
        <p:nvSpPr>
          <p:cNvPr id="21" name="Text 14"/>
          <p:cNvSpPr/>
          <p:nvPr/>
        </p:nvSpPr>
        <p:spPr>
          <a:xfrm>
            <a:off x="2830205" y="6022999"/>
            <a:ext cx="1923954" cy="246549"/>
          </a:xfrm>
          <a:prstGeom prst="rect">
            <a:avLst/>
          </a:prstGeom>
          <a:noFill/>
          <a:ln/>
        </p:spPr>
        <p:txBody>
          <a:bodyPr wrap="none" lIns="0" tIns="0" rIns="0" bIns="0" rtlCol="0" anchor="t"/>
          <a:lstStyle/>
          <a:p>
            <a:pPr marL="0" indent="0" algn="l">
              <a:lnSpc>
                <a:spcPts val="1900"/>
              </a:lnSpc>
              <a:buNone/>
            </a:pPr>
            <a:r>
              <a:rPr lang="en-US" dirty="0">
                <a:solidFill>
                  <a:srgbClr val="3C3939"/>
                </a:solidFill>
                <a:latin typeface="Raleway" pitchFamily="34" charset="0"/>
                <a:ea typeface="Raleway" pitchFamily="34" charset="-122"/>
                <a:cs typeface="Raleway" pitchFamily="34" charset="-120"/>
              </a:rPr>
              <a:t>Data-Driven Decisions</a:t>
            </a:r>
            <a:endParaRPr lang="en-US" dirty="0"/>
          </a:p>
        </p:txBody>
      </p:sp>
      <p:sp>
        <p:nvSpPr>
          <p:cNvPr id="22" name="Text 15"/>
          <p:cNvSpPr/>
          <p:nvPr/>
        </p:nvSpPr>
        <p:spPr>
          <a:xfrm>
            <a:off x="2861727" y="6352964"/>
            <a:ext cx="4376880" cy="504990"/>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Heatmaps, workload analytics, and frequency analysis guide strategic resource allocation</a:t>
            </a:r>
            <a:endParaRPr lang="en-US" sz="1600" dirty="0"/>
          </a:p>
        </p:txBody>
      </p:sp>
      <p:sp>
        <p:nvSpPr>
          <p:cNvPr id="23" name="Shape 16"/>
          <p:cNvSpPr/>
          <p:nvPr/>
        </p:nvSpPr>
        <p:spPr>
          <a:xfrm>
            <a:off x="7756529" y="5208560"/>
            <a:ext cx="4848463" cy="1973126"/>
          </a:xfrm>
          <a:prstGeom prst="roundRect">
            <a:avLst>
              <a:gd name="adj" fmla="val 3665"/>
            </a:avLst>
          </a:prstGeom>
          <a:solidFill>
            <a:srgbClr val="E1E1EA"/>
          </a:solidFill>
          <a:ln w="7620">
            <a:solidFill>
              <a:srgbClr val="C7C7D0"/>
            </a:solidFill>
            <a:prstDash val="solid"/>
          </a:ln>
        </p:spPr>
      </p:sp>
      <p:sp>
        <p:nvSpPr>
          <p:cNvPr id="24" name="Shape 17"/>
          <p:cNvSpPr/>
          <p:nvPr/>
        </p:nvSpPr>
        <p:spPr>
          <a:xfrm>
            <a:off x="7948757" y="5417805"/>
            <a:ext cx="452361" cy="473565"/>
          </a:xfrm>
          <a:prstGeom prst="roundRect">
            <a:avLst>
              <a:gd name="adj" fmla="val 19675201"/>
            </a:avLst>
          </a:prstGeom>
          <a:solidFill>
            <a:srgbClr val="1B1B27"/>
          </a:solidFill>
          <a:ln/>
        </p:spPr>
      </p:sp>
      <p:pic>
        <p:nvPicPr>
          <p:cNvPr id="2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66108" y="5578637"/>
            <a:ext cx="213062" cy="213062"/>
          </a:xfrm>
          <a:prstGeom prst="rect">
            <a:avLst/>
          </a:prstGeom>
        </p:spPr>
      </p:pic>
      <p:sp>
        <p:nvSpPr>
          <p:cNvPr id="26" name="Text 18"/>
          <p:cNvSpPr/>
          <p:nvPr/>
        </p:nvSpPr>
        <p:spPr>
          <a:xfrm>
            <a:off x="7907181" y="5986074"/>
            <a:ext cx="1884780" cy="246549"/>
          </a:xfrm>
          <a:prstGeom prst="rect">
            <a:avLst/>
          </a:prstGeom>
          <a:noFill/>
          <a:ln/>
        </p:spPr>
        <p:txBody>
          <a:bodyPr wrap="none" lIns="0" tIns="0" rIns="0" bIns="0" rtlCol="0" anchor="t"/>
          <a:lstStyle/>
          <a:p>
            <a:pPr marL="0" indent="0" algn="l">
              <a:lnSpc>
                <a:spcPts val="1900"/>
              </a:lnSpc>
              <a:buNone/>
            </a:pPr>
            <a:r>
              <a:rPr lang="en-US" dirty="0">
                <a:solidFill>
                  <a:srgbClr val="3C3939"/>
                </a:solidFill>
                <a:latin typeface="Raleway" pitchFamily="34" charset="0"/>
                <a:ea typeface="Raleway" pitchFamily="34" charset="-122"/>
                <a:cs typeface="Raleway" pitchFamily="34" charset="-120"/>
              </a:rPr>
              <a:t>Equity Focus</a:t>
            </a:r>
            <a:endParaRPr lang="en-US" dirty="0"/>
          </a:p>
        </p:txBody>
      </p:sp>
      <p:sp>
        <p:nvSpPr>
          <p:cNvPr id="27" name="Text 19"/>
          <p:cNvSpPr/>
          <p:nvPr/>
        </p:nvSpPr>
        <p:spPr>
          <a:xfrm>
            <a:off x="7907181" y="6321251"/>
            <a:ext cx="4376880" cy="504990"/>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Identify and prioritize underserved neighborhoods using comprehensive complaint data</a:t>
            </a:r>
            <a:endParaRPr lang="en-US" sz="1600" dirty="0"/>
          </a:p>
        </p:txBody>
      </p:sp>
      <p:sp>
        <p:nvSpPr>
          <p:cNvPr id="32" name="TextBox 31">
            <a:extLst>
              <a:ext uri="{FF2B5EF4-FFF2-40B4-BE49-F238E27FC236}">
                <a16:creationId xmlns:a16="http://schemas.microsoft.com/office/drawing/2014/main" id="{D5159E57-0780-AF2F-5D35-21D2BC6EC549}"/>
              </a:ext>
            </a:extLst>
          </p:cNvPr>
          <p:cNvSpPr txBox="1"/>
          <p:nvPr/>
        </p:nvSpPr>
        <p:spPr>
          <a:xfrm>
            <a:off x="11820353" y="617950"/>
            <a:ext cx="2609385"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59CA3-E90F-08E9-DC00-03F076D801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326DE06-38D5-E612-C50E-51D67A83C3F2}"/>
              </a:ext>
            </a:extLst>
          </p:cNvPr>
          <p:cNvSpPr/>
          <p:nvPr/>
        </p:nvSpPr>
        <p:spPr>
          <a:xfrm>
            <a:off x="3930938" y="792555"/>
            <a:ext cx="6768465" cy="514469"/>
          </a:xfrm>
          <a:prstGeom prst="rect">
            <a:avLst/>
          </a:prstGeom>
          <a:noFill/>
          <a:ln/>
        </p:spPr>
        <p:txBody>
          <a:bodyPr wrap="none" lIns="0" tIns="0" rIns="0" bIns="0" rtlCol="0" anchor="t"/>
          <a:lstStyle/>
          <a:p>
            <a:pPr>
              <a:lnSpc>
                <a:spcPts val="4050"/>
              </a:lnSpc>
            </a:pPr>
            <a:r>
              <a:rPr lang="en-IN" sz="3600" dirty="0">
                <a:latin typeface="Roboto" panose="02000000000000000000" pitchFamily="2" charset="0"/>
                <a:ea typeface="Roboto" panose="02000000000000000000" pitchFamily="2" charset="0"/>
                <a:cs typeface="Roboto" panose="02000000000000000000" pitchFamily="2" charset="0"/>
              </a:rPr>
              <a:t>Mapping SnapFix to SDG 11 Targets</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6" name="Rectangle 35">
            <a:extLst>
              <a:ext uri="{FF2B5EF4-FFF2-40B4-BE49-F238E27FC236}">
                <a16:creationId xmlns:a16="http://schemas.microsoft.com/office/drawing/2014/main" id="{9F895164-D4CE-E6EB-0239-DA6105C9E927}"/>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7" name="Picture 2" descr="RV College of Engineering Bengaluru | Top Engineering Institution">
            <a:extLst>
              <a:ext uri="{FF2B5EF4-FFF2-40B4-BE49-F238E27FC236}">
                <a16:creationId xmlns:a16="http://schemas.microsoft.com/office/drawing/2014/main" id="{A4BD48CB-76B7-291C-B213-C8EE23129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BE63166-4073-A816-0702-238FD4C908F6}"/>
              </a:ext>
            </a:extLst>
          </p:cNvPr>
          <p:cNvSpPr txBox="1"/>
          <p:nvPr/>
        </p:nvSpPr>
        <p:spPr>
          <a:xfrm>
            <a:off x="11697630" y="498076"/>
            <a:ext cx="2530212"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31" name="TextBox 30">
            <a:extLst>
              <a:ext uri="{FF2B5EF4-FFF2-40B4-BE49-F238E27FC236}">
                <a16:creationId xmlns:a16="http://schemas.microsoft.com/office/drawing/2014/main" id="{B2CFF11F-2651-EC0B-9218-33E3BA69262A}"/>
              </a:ext>
            </a:extLst>
          </p:cNvPr>
          <p:cNvSpPr txBox="1"/>
          <p:nvPr/>
        </p:nvSpPr>
        <p:spPr>
          <a:xfrm>
            <a:off x="2231670" y="1391291"/>
            <a:ext cx="11255730" cy="6740307"/>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SDG 11 Goal:</a:t>
            </a:r>
            <a:br>
              <a:rPr lang="en-US" sz="2400"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Make cities inclusive, safe, resilient, and sustainable.</a:t>
            </a:r>
          </a:p>
          <a:p>
            <a:pPr>
              <a:buNone/>
            </a:pPr>
            <a:r>
              <a:rPr lang="en-US" sz="2400" b="1" dirty="0">
                <a:latin typeface="Times New Roman" panose="02020603050405020304" pitchFamily="18" charset="0"/>
                <a:cs typeface="Times New Roman" panose="02020603050405020304" pitchFamily="18" charset="0"/>
              </a:rPr>
              <a:t>How SnapFix Contributes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Inclusive Participation</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citizens to report issues using a familiar messaging platform (Telegram).</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Lowers barriers for participation across age, literacy, and socio-economic groups.</a:t>
            </a:r>
          </a:p>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Safe &amp; Resilient Infrastructure</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Early detection of hazards such as fallen trees, damaged poles, and potholes.</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Urgency detection ensures faster response to safety-critical complaints.</a:t>
            </a:r>
          </a:p>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Sustainable Urban Management</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Data-driven prioritization reduces resource wastage.</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Heatmaps support preventive maintenance and long-term planning.</a:t>
            </a:r>
          </a:p>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Transparent Governance</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complaint tracking builds public trust.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Accountability through measurable resolution workflows.</a:t>
            </a:r>
          </a:p>
        </p:txBody>
      </p:sp>
    </p:spTree>
    <p:extLst>
      <p:ext uri="{BB962C8B-B14F-4D97-AF65-F5344CB8AC3E}">
        <p14:creationId xmlns:p14="http://schemas.microsoft.com/office/powerpoint/2010/main" val="3743943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880F37-1472-C8D2-BD48-C074A9C73E24}"/>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500"/>
          </a:p>
        </p:txBody>
      </p:sp>
      <p:pic>
        <p:nvPicPr>
          <p:cNvPr id="11" name="Picture 2" descr="RV College of Engineering Bengaluru | Top Engineering Institution">
            <a:extLst>
              <a:ext uri="{FF2B5EF4-FFF2-40B4-BE49-F238E27FC236}">
                <a16:creationId xmlns:a16="http://schemas.microsoft.com/office/drawing/2014/main" id="{2EF56B46-5030-515E-9A98-4BD0AD277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5C2EC85-B37F-F1AD-5C89-918A304943AC}"/>
              </a:ext>
            </a:extLst>
          </p:cNvPr>
          <p:cNvSpPr txBox="1"/>
          <p:nvPr/>
        </p:nvSpPr>
        <p:spPr>
          <a:xfrm>
            <a:off x="12066637" y="586740"/>
            <a:ext cx="2429948"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graphicFrame>
        <p:nvGraphicFramePr>
          <p:cNvPr id="14" name="Table 13">
            <a:extLst>
              <a:ext uri="{FF2B5EF4-FFF2-40B4-BE49-F238E27FC236}">
                <a16:creationId xmlns:a16="http://schemas.microsoft.com/office/drawing/2014/main" id="{73226847-5186-0A5E-13AA-554995FE8C33}"/>
              </a:ext>
            </a:extLst>
          </p:cNvPr>
          <p:cNvGraphicFramePr>
            <a:graphicFrameLocks noGrp="1"/>
          </p:cNvGraphicFramePr>
          <p:nvPr>
            <p:extLst>
              <p:ext uri="{D42A27DB-BD31-4B8C-83A1-F6EECF244321}">
                <p14:modId xmlns:p14="http://schemas.microsoft.com/office/powerpoint/2010/main" val="3764391601"/>
              </p:ext>
            </p:extLst>
          </p:nvPr>
        </p:nvGraphicFramePr>
        <p:xfrm>
          <a:off x="133813" y="1588015"/>
          <a:ext cx="14362771" cy="6508159"/>
        </p:xfrm>
        <a:graphic>
          <a:graphicData uri="http://schemas.openxmlformats.org/drawingml/2006/table">
            <a:tbl>
              <a:tblPr>
                <a:tableStyleId>{69CF1AB2-1976-4502-BF36-3FF5EA218861}</a:tableStyleId>
              </a:tblPr>
              <a:tblGrid>
                <a:gridCol w="898416">
                  <a:extLst>
                    <a:ext uri="{9D8B030D-6E8A-4147-A177-3AD203B41FA5}">
                      <a16:colId xmlns:a16="http://schemas.microsoft.com/office/drawing/2014/main" val="1263935468"/>
                    </a:ext>
                  </a:extLst>
                </a:gridCol>
                <a:gridCol w="7014491">
                  <a:extLst>
                    <a:ext uri="{9D8B030D-6E8A-4147-A177-3AD203B41FA5}">
                      <a16:colId xmlns:a16="http://schemas.microsoft.com/office/drawing/2014/main" val="1978917310"/>
                    </a:ext>
                  </a:extLst>
                </a:gridCol>
                <a:gridCol w="6449864">
                  <a:extLst>
                    <a:ext uri="{9D8B030D-6E8A-4147-A177-3AD203B41FA5}">
                      <a16:colId xmlns:a16="http://schemas.microsoft.com/office/drawing/2014/main" val="750988329"/>
                    </a:ext>
                  </a:extLst>
                </a:gridCol>
              </a:tblGrid>
              <a:tr h="1020812">
                <a:tc>
                  <a:txBody>
                    <a:bodyPr/>
                    <a:lstStyle/>
                    <a:p>
                      <a:pPr algn="ctr">
                        <a:lnSpc>
                          <a:spcPts val="3600"/>
                        </a:lnSpc>
                        <a:defRPr/>
                      </a:pPr>
                      <a:r>
                        <a:rPr lang="en-US" sz="2400" b="1" dirty="0">
                          <a:solidFill>
                            <a:schemeClr val="tx1"/>
                          </a:solidFill>
                          <a:latin typeface="Times New Roman" panose="02020603050405020304" pitchFamily="18" charset="0"/>
                          <a:cs typeface="Times New Roman" panose="02020603050405020304" pitchFamily="18" charset="0"/>
                          <a:sym typeface="Calibri (MS) Bold"/>
                        </a:rPr>
                        <a:t>SL NO</a:t>
                      </a:r>
                      <a:endParaRPr lang="en-US" sz="2400" dirty="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ctr">
                        <a:lnSpc>
                          <a:spcPts val="3600"/>
                        </a:lnSpc>
                        <a:defRPr/>
                      </a:pPr>
                      <a:r>
                        <a:rPr lang="en-US" sz="2400" b="1" dirty="0">
                          <a:solidFill>
                            <a:schemeClr val="tx1"/>
                          </a:solidFill>
                          <a:latin typeface="Times New Roman" panose="02020603050405020304" pitchFamily="18" charset="0"/>
                          <a:cs typeface="Times New Roman" panose="02020603050405020304" pitchFamily="18" charset="0"/>
                          <a:sym typeface="Calibri (MS) Bold"/>
                        </a:rPr>
                        <a:t>PAPER TITLE, AUTHOR,YEAR </a:t>
                      </a:r>
                      <a:endParaRPr lang="en-US" sz="2400" dirty="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ctr">
                        <a:lnSpc>
                          <a:spcPts val="3600"/>
                        </a:lnSpc>
                        <a:defRPr/>
                      </a:pPr>
                      <a:r>
                        <a:rPr lang="en-US" sz="2400" b="1" dirty="0">
                          <a:solidFill>
                            <a:schemeClr val="tx1"/>
                          </a:solidFill>
                          <a:latin typeface="Times New Roman" panose="02020603050405020304" pitchFamily="18" charset="0"/>
                          <a:cs typeface="Times New Roman" panose="02020603050405020304" pitchFamily="18" charset="0"/>
                          <a:sym typeface="Calibri (MS) Bold"/>
                        </a:rPr>
                        <a:t> OBSERVATIONS</a:t>
                      </a:r>
                      <a:endParaRPr lang="en-US" sz="2400" dirty="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2132010166"/>
                  </a:ext>
                </a:extLst>
              </a:tr>
              <a:tr h="2555547">
                <a:tc>
                  <a:txBody>
                    <a:bodyPr/>
                    <a:lstStyle/>
                    <a:p>
                      <a:pPr algn="ctr">
                        <a:lnSpc>
                          <a:spcPts val="3055"/>
                        </a:lnSpc>
                        <a:defRPr/>
                      </a:pPr>
                      <a:r>
                        <a:rPr lang="en-US" sz="2400">
                          <a:solidFill>
                            <a:srgbClr val="000000"/>
                          </a:solidFill>
                          <a:latin typeface="Times New Roman" panose="02020603050405020304" pitchFamily="18" charset="0"/>
                          <a:cs typeface="Times New Roman" panose="02020603050405020304" pitchFamily="18" charset="0"/>
                          <a:sym typeface="Calibri (MS)"/>
                        </a:rPr>
                        <a:t>1</a:t>
                      </a:r>
                      <a:endParaRPr lang="en-US" sz="2400">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just">
                        <a:lnSpc>
                          <a:spcPts val="3359"/>
                        </a:lnSpc>
                        <a:defRPr/>
                      </a:pPr>
                      <a:r>
                        <a:rPr lang="en-US" sz="2400" b="1" dirty="0">
                          <a:solidFill>
                            <a:srgbClr val="000000"/>
                          </a:solidFill>
                          <a:latin typeface="Times New Roman" panose="02020603050405020304" pitchFamily="18" charset="0"/>
                          <a:cs typeface="Times New Roman" panose="02020603050405020304" pitchFamily="18" charset="0"/>
                          <a:sym typeface="Calibri (MS) Bold Italics"/>
                        </a:rPr>
                        <a:t>AI-Driven Complaint Management System</a:t>
                      </a:r>
                      <a:endParaRPr lang="en-US" sz="2400" dirty="0">
                        <a:latin typeface="Times New Roman" panose="02020603050405020304" pitchFamily="18" charset="0"/>
                        <a:cs typeface="Times New Roman" panose="02020603050405020304" pitchFamily="18" charset="0"/>
                      </a:endParaRPr>
                    </a:p>
                    <a:p>
                      <a:pPr algn="just">
                        <a:lnSpc>
                          <a:spcPts val="3359"/>
                        </a:lnSpc>
                      </a:pPr>
                      <a:r>
                        <a:rPr lang="en-US" sz="2400" b="1" dirty="0">
                          <a:solidFill>
                            <a:srgbClr val="000000"/>
                          </a:solidFill>
                          <a:latin typeface="Times New Roman" panose="02020603050405020304" pitchFamily="18" charset="0"/>
                          <a:cs typeface="Times New Roman" panose="02020603050405020304" pitchFamily="18" charset="0"/>
                          <a:sym typeface="Calibri (MS) Bold Italics"/>
                        </a:rPr>
                        <a:t>IJFMR, 2025</a:t>
                      </a:r>
                      <a:endParaRPr lang="en-US" sz="2400" b="1" i="1" dirty="0">
                        <a:solidFill>
                          <a:srgbClr val="000000"/>
                        </a:solidFill>
                        <a:latin typeface="Times New Roman" panose="02020603050405020304" pitchFamily="18" charset="0"/>
                        <a:ea typeface="Calibri (MS) Bold Italics"/>
                        <a:cs typeface="Times New Roman" panose="02020603050405020304" pitchFamily="18" charset="0"/>
                        <a:sym typeface="Calibri (MS) Bold Italics"/>
                      </a:endParaRPr>
                    </a:p>
                  </a:txBody>
                  <a:tcPr marL="91450" marR="91450" marT="91450" marB="91450" anchor="ctr"/>
                </a:tc>
                <a:tc>
                  <a:txBody>
                    <a:bodyPr/>
                    <a:lstStyle/>
                    <a:p>
                      <a:pPr algn="l">
                        <a:lnSpc>
                          <a:spcPts val="2879"/>
                        </a:lnSpc>
                        <a:defRPr/>
                      </a:pPr>
                      <a:r>
                        <a:rPr lang="en-US" sz="2400" dirty="0">
                          <a:solidFill>
                            <a:srgbClr val="000000"/>
                          </a:solidFill>
                          <a:latin typeface="Times New Roman" panose="02020603050405020304" pitchFamily="18" charset="0"/>
                          <a:cs typeface="Times New Roman" panose="02020603050405020304" pitchFamily="18" charset="0"/>
                          <a:sym typeface="Calibri (MS)"/>
                        </a:rPr>
                        <a:t>This paper validates the architecture and features required for a modern complaint system, including geo-tagging, multimedia support, and real-time tracking, which directly relates to our proposed system's functionality.</a:t>
                      </a:r>
                      <a:endParaRPr lang="en-US" sz="2400" dirty="0">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2600190259"/>
                  </a:ext>
                </a:extLst>
              </a:tr>
              <a:tr h="2898174">
                <a:tc>
                  <a:txBody>
                    <a:bodyPr/>
                    <a:lstStyle/>
                    <a:p>
                      <a:pPr algn="ctr">
                        <a:lnSpc>
                          <a:spcPts val="3055"/>
                        </a:lnSpc>
                        <a:defRPr/>
                      </a:pPr>
                      <a:r>
                        <a:rPr lang="en-US" sz="2400">
                          <a:solidFill>
                            <a:srgbClr val="000000"/>
                          </a:solidFill>
                          <a:latin typeface="Times New Roman" panose="02020603050405020304" pitchFamily="18" charset="0"/>
                          <a:cs typeface="Times New Roman" panose="02020603050405020304" pitchFamily="18" charset="0"/>
                          <a:sym typeface="Calibri (MS)"/>
                        </a:rPr>
                        <a:t>2</a:t>
                      </a:r>
                      <a:endParaRPr lang="en-US" sz="2400">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l">
                        <a:lnSpc>
                          <a:spcPts val="3359"/>
                        </a:lnSpc>
                        <a:defRPr/>
                      </a:pPr>
                      <a:r>
                        <a:rPr lang="en-US" sz="2400" b="1">
                          <a:solidFill>
                            <a:srgbClr val="000000"/>
                          </a:solidFill>
                          <a:latin typeface="Times New Roman" panose="02020603050405020304" pitchFamily="18" charset="0"/>
                          <a:cs typeface="Times New Roman" panose="02020603050405020304" pitchFamily="18" charset="0"/>
                          <a:sym typeface="Calibri (MS) Bold Italics"/>
                        </a:rPr>
                        <a:t>Proactive Complaint Management in Public Sector Informatics Using AI: A Semantic Pattern Recognition Framework</a:t>
                      </a:r>
                      <a:endParaRPr lang="en-US" sz="2400">
                        <a:latin typeface="Times New Roman" panose="02020603050405020304" pitchFamily="18" charset="0"/>
                        <a:cs typeface="Times New Roman" panose="02020603050405020304" pitchFamily="18" charset="0"/>
                      </a:endParaRPr>
                    </a:p>
                    <a:p>
                      <a:pPr algn="l">
                        <a:lnSpc>
                          <a:spcPts val="3359"/>
                        </a:lnSpc>
                      </a:pPr>
                      <a:r>
                        <a:rPr lang="en-US" sz="2400" b="1">
                          <a:solidFill>
                            <a:srgbClr val="000000"/>
                          </a:solidFill>
                          <a:latin typeface="Times New Roman" panose="02020603050405020304" pitchFamily="18" charset="0"/>
                          <a:cs typeface="Times New Roman" panose="02020603050405020304" pitchFamily="18" charset="0"/>
                          <a:sym typeface="Calibri (MS) Bold Italics"/>
                        </a:rPr>
                        <a:t>MDPI, 2025</a:t>
                      </a:r>
                      <a:endParaRPr lang="en-US" sz="2400" b="1" i="1">
                        <a:solidFill>
                          <a:srgbClr val="000000"/>
                        </a:solidFill>
                        <a:latin typeface="Times New Roman" panose="02020603050405020304" pitchFamily="18" charset="0"/>
                        <a:ea typeface="Calibri (MS) Bold Italics"/>
                        <a:cs typeface="Times New Roman" panose="02020603050405020304" pitchFamily="18" charset="0"/>
                        <a:sym typeface="Calibri (MS) Bold Italics"/>
                      </a:endParaRPr>
                    </a:p>
                  </a:txBody>
                  <a:tcPr marL="91450" marR="91450" marT="91450" marB="91450" anchor="ctr"/>
                </a:tc>
                <a:tc>
                  <a:txBody>
                    <a:bodyPr/>
                    <a:lstStyle/>
                    <a:p>
                      <a:pPr algn="l">
                        <a:lnSpc>
                          <a:spcPts val="2879"/>
                        </a:lnSpc>
                        <a:defRPr/>
                      </a:pPr>
                      <a:r>
                        <a:rPr lang="en-US" sz="2400" dirty="0">
                          <a:solidFill>
                            <a:srgbClr val="000000"/>
                          </a:solidFill>
                          <a:latin typeface="Times New Roman" panose="02020603050405020304" pitchFamily="18" charset="0"/>
                          <a:cs typeface="Times New Roman" panose="02020603050405020304" pitchFamily="18" charset="0"/>
                          <a:sym typeface="Calibri (MS)"/>
                        </a:rPr>
                        <a:t>This is highly relevant for selecting our classification model. It demonstrates the superior performance of Deep Learning models (BERT) over traditional classifiers for nuanced language understanding, which is critical for handling informal chat inputs.</a:t>
                      </a:r>
                      <a:endParaRPr lang="en-US" sz="2400" dirty="0">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1407732055"/>
                  </a:ext>
                </a:extLst>
              </a:tr>
            </a:tbl>
          </a:graphicData>
        </a:graphic>
      </p:graphicFrame>
      <p:sp>
        <p:nvSpPr>
          <p:cNvPr id="15" name="TextBox 14">
            <a:extLst>
              <a:ext uri="{FF2B5EF4-FFF2-40B4-BE49-F238E27FC236}">
                <a16:creationId xmlns:a16="http://schemas.microsoft.com/office/drawing/2014/main" id="{6814394F-657B-7405-0F42-807CB28BD86F}"/>
              </a:ext>
            </a:extLst>
          </p:cNvPr>
          <p:cNvSpPr txBox="1"/>
          <p:nvPr/>
        </p:nvSpPr>
        <p:spPr>
          <a:xfrm>
            <a:off x="5591359" y="548652"/>
            <a:ext cx="5486400" cy="646331"/>
          </a:xfrm>
          <a:prstGeom prst="rect">
            <a:avLst/>
          </a:prstGeom>
          <a:noFill/>
        </p:spPr>
        <p:txBody>
          <a:bodyPr wrap="square" rtlCol="0">
            <a:spAutoFit/>
          </a:bodyPr>
          <a:lstStyle/>
          <a:p>
            <a:r>
              <a:rPr lang="en-IN" sz="3600" dirty="0">
                <a:latin typeface="Roboto" panose="02000000000000000000" pitchFamily="2" charset="0"/>
                <a:ea typeface="Roboto" panose="02000000000000000000" pitchFamily="2" charset="0"/>
                <a:cs typeface="Roboto" panose="02000000000000000000" pitchFamily="2" charset="0"/>
              </a:rPr>
              <a:t>Literature Survey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CED3-378A-0A93-E6D4-72C17EB2C7B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056E8AA-EC1F-32D0-49BB-254211443254}"/>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p>
        </p:txBody>
      </p:sp>
      <p:pic>
        <p:nvPicPr>
          <p:cNvPr id="11" name="Picture 2" descr="RV College of Engineering Bengaluru | Top Engineering Institution">
            <a:extLst>
              <a:ext uri="{FF2B5EF4-FFF2-40B4-BE49-F238E27FC236}">
                <a16:creationId xmlns:a16="http://schemas.microsoft.com/office/drawing/2014/main" id="{1A5AFDFC-AE00-DB1A-E52D-60162B5BC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A2E9CB5-5E9F-10D5-8168-CC651AA84AC0}"/>
              </a:ext>
            </a:extLst>
          </p:cNvPr>
          <p:cNvSpPr txBox="1"/>
          <p:nvPr/>
        </p:nvSpPr>
        <p:spPr>
          <a:xfrm>
            <a:off x="12066637" y="586740"/>
            <a:ext cx="2429948"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graphicFrame>
        <p:nvGraphicFramePr>
          <p:cNvPr id="14" name="Table 13">
            <a:extLst>
              <a:ext uri="{FF2B5EF4-FFF2-40B4-BE49-F238E27FC236}">
                <a16:creationId xmlns:a16="http://schemas.microsoft.com/office/drawing/2014/main" id="{F8DCA62F-ABDE-D594-F2B9-4EE156CD61DE}"/>
              </a:ext>
            </a:extLst>
          </p:cNvPr>
          <p:cNvGraphicFramePr>
            <a:graphicFrameLocks noGrp="1"/>
          </p:cNvGraphicFramePr>
          <p:nvPr>
            <p:extLst>
              <p:ext uri="{D42A27DB-BD31-4B8C-83A1-F6EECF244321}">
                <p14:modId xmlns:p14="http://schemas.microsoft.com/office/powerpoint/2010/main" val="1817984150"/>
              </p:ext>
            </p:extLst>
          </p:nvPr>
        </p:nvGraphicFramePr>
        <p:xfrm>
          <a:off x="133813" y="1588015"/>
          <a:ext cx="14362771" cy="6474533"/>
        </p:xfrm>
        <a:graphic>
          <a:graphicData uri="http://schemas.openxmlformats.org/drawingml/2006/table">
            <a:tbl>
              <a:tblPr>
                <a:tableStyleId>{69CF1AB2-1976-4502-BF36-3FF5EA218861}</a:tableStyleId>
              </a:tblPr>
              <a:tblGrid>
                <a:gridCol w="898416">
                  <a:extLst>
                    <a:ext uri="{9D8B030D-6E8A-4147-A177-3AD203B41FA5}">
                      <a16:colId xmlns:a16="http://schemas.microsoft.com/office/drawing/2014/main" val="1263935468"/>
                    </a:ext>
                  </a:extLst>
                </a:gridCol>
                <a:gridCol w="7014491">
                  <a:extLst>
                    <a:ext uri="{9D8B030D-6E8A-4147-A177-3AD203B41FA5}">
                      <a16:colId xmlns:a16="http://schemas.microsoft.com/office/drawing/2014/main" val="1978917310"/>
                    </a:ext>
                  </a:extLst>
                </a:gridCol>
                <a:gridCol w="6449864">
                  <a:extLst>
                    <a:ext uri="{9D8B030D-6E8A-4147-A177-3AD203B41FA5}">
                      <a16:colId xmlns:a16="http://schemas.microsoft.com/office/drawing/2014/main" val="750988329"/>
                    </a:ext>
                  </a:extLst>
                </a:gridCol>
              </a:tblGrid>
              <a:tr h="1020812">
                <a:tc>
                  <a:txBody>
                    <a:bodyPr/>
                    <a:lstStyle/>
                    <a:p>
                      <a:pPr algn="ctr">
                        <a:lnSpc>
                          <a:spcPts val="3600"/>
                        </a:lnSpc>
                        <a:defRPr/>
                      </a:pPr>
                      <a:r>
                        <a:rPr lang="en-US" sz="2400" b="1">
                          <a:solidFill>
                            <a:schemeClr val="tx1"/>
                          </a:solidFill>
                          <a:latin typeface="Times New Roman" panose="02020603050405020304" pitchFamily="18" charset="0"/>
                          <a:ea typeface="Calibri (MS) Bold"/>
                          <a:cs typeface="Times New Roman" panose="02020603050405020304" pitchFamily="18" charset="0"/>
                          <a:sym typeface="Calibri (MS) Bold"/>
                        </a:rPr>
                        <a:t>Sl No</a:t>
                      </a:r>
                      <a:endParaRPr lang="en-US" sz="240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ctr">
                        <a:lnSpc>
                          <a:spcPts val="3600"/>
                        </a:lnSpc>
                        <a:defRPr/>
                      </a:pPr>
                      <a:r>
                        <a:rPr lang="en-US" sz="2400" b="1">
                          <a:solidFill>
                            <a:schemeClr val="tx1"/>
                          </a:solidFill>
                          <a:latin typeface="Times New Roman" panose="02020603050405020304" pitchFamily="18" charset="0"/>
                          <a:ea typeface="Calibri (MS) Bold"/>
                          <a:cs typeface="Times New Roman" panose="02020603050405020304" pitchFamily="18" charset="0"/>
                          <a:sym typeface="Calibri (MS) Bold"/>
                        </a:rPr>
                        <a:t>Paper Title, Journal Name, Year </a:t>
                      </a:r>
                      <a:endParaRPr lang="en-US" sz="240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ctr">
                        <a:lnSpc>
                          <a:spcPts val="3600"/>
                        </a:lnSpc>
                        <a:defRPr/>
                      </a:pPr>
                      <a:r>
                        <a:rPr lang="en-US" sz="2400" b="1" dirty="0">
                          <a:solidFill>
                            <a:schemeClr val="tx1"/>
                          </a:solidFill>
                          <a:latin typeface="Times New Roman" panose="02020603050405020304" pitchFamily="18" charset="0"/>
                          <a:ea typeface="Calibri (MS) Bold"/>
                          <a:cs typeface="Times New Roman" panose="02020603050405020304" pitchFamily="18" charset="0"/>
                          <a:sym typeface="Calibri (MS) Bold"/>
                        </a:rPr>
                        <a:t>Major findings / observations</a:t>
                      </a:r>
                      <a:endParaRPr lang="en-US" sz="2400" dirty="0">
                        <a:solidFill>
                          <a:schemeClr val="tx1"/>
                        </a:solidFill>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2132010166"/>
                  </a:ext>
                </a:extLst>
              </a:tr>
              <a:tr h="2555547">
                <a:tc>
                  <a:txBody>
                    <a:bodyPr/>
                    <a:lstStyle/>
                    <a:p>
                      <a:pPr algn="ctr">
                        <a:lnSpc>
                          <a:spcPts val="3055"/>
                        </a:lnSpc>
                        <a:defRPr/>
                      </a:pPr>
                      <a:r>
                        <a:rPr lang="en-US" sz="2400">
                          <a:solidFill>
                            <a:srgbClr val="000000"/>
                          </a:solidFill>
                          <a:latin typeface="Times New Roman" panose="02020603050405020304" pitchFamily="18" charset="0"/>
                          <a:ea typeface="Calibri (MS)"/>
                          <a:cs typeface="Times New Roman" panose="02020603050405020304" pitchFamily="18" charset="0"/>
                          <a:sym typeface="Calibri (MS)"/>
                        </a:rPr>
                        <a:t>3</a:t>
                      </a:r>
                      <a:endParaRPr lang="en-US" sz="2400">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just">
                        <a:lnSpc>
                          <a:spcPts val="3359"/>
                        </a:lnSpc>
                        <a:defRPr/>
                      </a:pPr>
                      <a:r>
                        <a:rPr lang="en-US" sz="2400" b="1" i="0" dirty="0">
                          <a:solidFill>
                            <a:srgbClr val="000000"/>
                          </a:solidFill>
                          <a:latin typeface="Times New Roman" panose="02020603050405020304" pitchFamily="18" charset="0"/>
                          <a:ea typeface="Calibri (MS) Bold Italics"/>
                          <a:cs typeface="Times New Roman" panose="02020603050405020304" pitchFamily="18" charset="0"/>
                          <a:sym typeface="Calibri (MS) Bold Italics"/>
                        </a:rPr>
                        <a:t>Smart Civic Complaint Analyzer Using Natural Language Processing </a:t>
                      </a:r>
                      <a:endParaRPr lang="en-US" sz="2400" i="0" dirty="0">
                        <a:latin typeface="Times New Roman" panose="02020603050405020304" pitchFamily="18" charset="0"/>
                        <a:cs typeface="Times New Roman" panose="02020603050405020304" pitchFamily="18" charset="0"/>
                      </a:endParaRPr>
                    </a:p>
                    <a:p>
                      <a:pPr algn="just">
                        <a:lnSpc>
                          <a:spcPts val="3359"/>
                        </a:lnSpc>
                      </a:pPr>
                      <a:r>
                        <a:rPr lang="en-US" sz="2400" b="1" i="0" dirty="0">
                          <a:solidFill>
                            <a:srgbClr val="000000"/>
                          </a:solidFill>
                          <a:latin typeface="Times New Roman" panose="02020603050405020304" pitchFamily="18" charset="0"/>
                          <a:ea typeface="Calibri (MS) Bold Italics"/>
                          <a:cs typeface="Times New Roman" panose="02020603050405020304" pitchFamily="18" charset="0"/>
                          <a:sym typeface="Calibri (MS) Bold Italics"/>
                        </a:rPr>
                        <a:t>IJIRT, 2025</a:t>
                      </a:r>
                    </a:p>
                  </a:txBody>
                  <a:tcPr marL="91450" marR="91450" marT="91450" marB="91450" anchor="ctr"/>
                </a:tc>
                <a:tc>
                  <a:txBody>
                    <a:bodyPr/>
                    <a:lstStyle/>
                    <a:p>
                      <a:pPr algn="l">
                        <a:lnSpc>
                          <a:spcPts val="2879"/>
                        </a:lnSpc>
                        <a:defRPr/>
                      </a:pPr>
                      <a:r>
                        <a:rPr lang="en-US" sz="2400">
                          <a:solidFill>
                            <a:srgbClr val="000000"/>
                          </a:solidFill>
                          <a:latin typeface="Times New Roman" panose="02020603050405020304" pitchFamily="18" charset="0"/>
                          <a:ea typeface="Calibri (MS)"/>
                          <a:cs typeface="Times New Roman" panose="02020603050405020304" pitchFamily="18" charset="0"/>
                          <a:sym typeface="Calibri (MS)"/>
                        </a:rPr>
                        <a:t>This paper provides a blueprint for the specific NLP tasks our system needs to perform: classification and prioritization. It justifies the use of common Machine Learning models (like Naive Bayes) before scaling up to Deep Learning models.</a:t>
                      </a:r>
                      <a:endParaRPr lang="en-US" sz="2400">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2600190259"/>
                  </a:ext>
                </a:extLst>
              </a:tr>
              <a:tr h="2898174">
                <a:tc>
                  <a:txBody>
                    <a:bodyPr/>
                    <a:lstStyle/>
                    <a:p>
                      <a:pPr algn="ctr">
                        <a:lnSpc>
                          <a:spcPts val="3055"/>
                        </a:lnSpc>
                        <a:defRPr/>
                      </a:pPr>
                      <a:r>
                        <a:rPr lang="en-US" sz="2400">
                          <a:solidFill>
                            <a:srgbClr val="000000"/>
                          </a:solidFill>
                          <a:latin typeface="Times New Roman" panose="02020603050405020304" pitchFamily="18" charset="0"/>
                          <a:ea typeface="Calibri (MS)"/>
                          <a:cs typeface="Times New Roman" panose="02020603050405020304" pitchFamily="18" charset="0"/>
                          <a:sym typeface="Calibri (MS)"/>
                        </a:rPr>
                        <a:t>4</a:t>
                      </a:r>
                      <a:endParaRPr lang="en-US" sz="2400">
                        <a:latin typeface="Times New Roman" panose="02020603050405020304" pitchFamily="18" charset="0"/>
                        <a:cs typeface="Times New Roman" panose="02020603050405020304" pitchFamily="18" charset="0"/>
                      </a:endParaRPr>
                    </a:p>
                  </a:txBody>
                  <a:tcPr marL="91450" marR="91450" marT="91450" marB="91450" anchor="ctr"/>
                </a:tc>
                <a:tc>
                  <a:txBody>
                    <a:bodyPr/>
                    <a:lstStyle/>
                    <a:p>
                      <a:pPr algn="l">
                        <a:lnSpc>
                          <a:spcPts val="3359"/>
                        </a:lnSpc>
                        <a:defRPr/>
                      </a:pPr>
                      <a:r>
                        <a:rPr lang="en-US" sz="2400" b="1" i="0" dirty="0">
                          <a:solidFill>
                            <a:srgbClr val="000000"/>
                          </a:solidFill>
                          <a:latin typeface="Times New Roman" panose="02020603050405020304" pitchFamily="18" charset="0"/>
                          <a:ea typeface="Calibri (MS) Bold Italics"/>
                          <a:cs typeface="Times New Roman" panose="02020603050405020304" pitchFamily="18" charset="0"/>
                          <a:sym typeface="Calibri (MS) Bold Italics"/>
                        </a:rPr>
                        <a:t>A Technological Survey on Citizen Complaint Management Systems and Future Advances </a:t>
                      </a:r>
                      <a:endParaRPr lang="en-US" sz="2400" i="0" dirty="0">
                        <a:latin typeface="Times New Roman" panose="02020603050405020304" pitchFamily="18" charset="0"/>
                        <a:cs typeface="Times New Roman" panose="02020603050405020304" pitchFamily="18" charset="0"/>
                      </a:endParaRPr>
                    </a:p>
                    <a:p>
                      <a:pPr algn="l">
                        <a:lnSpc>
                          <a:spcPts val="3359"/>
                        </a:lnSpc>
                      </a:pPr>
                      <a:r>
                        <a:rPr lang="en-US" sz="2400" b="1" i="0" dirty="0">
                          <a:solidFill>
                            <a:srgbClr val="000000"/>
                          </a:solidFill>
                          <a:latin typeface="Times New Roman" panose="02020603050405020304" pitchFamily="18" charset="0"/>
                          <a:ea typeface="Calibri (MS) Bold Italics"/>
                          <a:cs typeface="Times New Roman" panose="02020603050405020304" pitchFamily="18" charset="0"/>
                          <a:sym typeface="Calibri (MS) Bold Italics"/>
                        </a:rPr>
                        <a:t> (IEEE Xplore, 2025)</a:t>
                      </a:r>
                    </a:p>
                  </a:txBody>
                  <a:tcPr marL="91450" marR="91450" marT="91450" marB="91450" anchor="ctr"/>
                </a:tc>
                <a:tc>
                  <a:txBody>
                    <a:bodyPr/>
                    <a:lstStyle/>
                    <a:p>
                      <a:pPr algn="l">
                        <a:lnSpc>
                          <a:spcPts val="2879"/>
                        </a:lnSpc>
                        <a:defRPr/>
                      </a:pPr>
                      <a:r>
                        <a:rPr lang="en-US" sz="2400" dirty="0">
                          <a:solidFill>
                            <a:srgbClr val="000000"/>
                          </a:solidFill>
                          <a:latin typeface="Times New Roman" panose="02020603050405020304" pitchFamily="18" charset="0"/>
                          <a:ea typeface="Calibri (MS)"/>
                          <a:cs typeface="Times New Roman" panose="02020603050405020304" pitchFamily="18" charset="0"/>
                          <a:sym typeface="Calibri (MS)"/>
                        </a:rPr>
                        <a:t>This provides the Literature Review foundation by detailing the shortcomings of existing manual systems (delays, lack of transparency) and justifies the move towards AI/digital transformation in e-governance for better efficiency and citizen trust.</a:t>
                      </a:r>
                      <a:endParaRPr lang="en-US" sz="2400" dirty="0">
                        <a:latin typeface="Times New Roman" panose="02020603050405020304" pitchFamily="18" charset="0"/>
                        <a:cs typeface="Times New Roman" panose="02020603050405020304" pitchFamily="18" charset="0"/>
                      </a:endParaRPr>
                    </a:p>
                  </a:txBody>
                  <a:tcPr marL="91450" marR="91450" marT="91450" marB="91450" anchor="ctr"/>
                </a:tc>
                <a:extLst>
                  <a:ext uri="{0D108BD9-81ED-4DB2-BD59-A6C34878D82A}">
                    <a16:rowId xmlns:a16="http://schemas.microsoft.com/office/drawing/2014/main" val="1407732055"/>
                  </a:ext>
                </a:extLst>
              </a:tr>
            </a:tbl>
          </a:graphicData>
        </a:graphic>
      </p:graphicFrame>
      <p:sp>
        <p:nvSpPr>
          <p:cNvPr id="15" name="TextBox 14">
            <a:extLst>
              <a:ext uri="{FF2B5EF4-FFF2-40B4-BE49-F238E27FC236}">
                <a16:creationId xmlns:a16="http://schemas.microsoft.com/office/drawing/2014/main" id="{B6814760-B940-8480-E180-46380574D1A0}"/>
              </a:ext>
            </a:extLst>
          </p:cNvPr>
          <p:cNvSpPr txBox="1"/>
          <p:nvPr/>
        </p:nvSpPr>
        <p:spPr>
          <a:xfrm>
            <a:off x="5591359" y="548652"/>
            <a:ext cx="5486400" cy="646331"/>
          </a:xfrm>
          <a:prstGeom prst="rect">
            <a:avLst/>
          </a:prstGeom>
          <a:noFill/>
        </p:spPr>
        <p:txBody>
          <a:bodyPr wrap="square" rtlCol="0">
            <a:spAutoFit/>
          </a:bodyPr>
          <a:lstStyle/>
          <a:p>
            <a:r>
              <a:rPr lang="en-IN" sz="3600" dirty="0">
                <a:latin typeface="Roboto" panose="02000000000000000000" pitchFamily="2" charset="0"/>
                <a:ea typeface="Roboto" panose="02000000000000000000" pitchFamily="2" charset="0"/>
                <a:cs typeface="Roboto" panose="02000000000000000000" pitchFamily="2" charset="0"/>
              </a:rPr>
              <a:t>Literature Survey</a:t>
            </a:r>
          </a:p>
        </p:txBody>
      </p:sp>
    </p:spTree>
    <p:extLst>
      <p:ext uri="{BB962C8B-B14F-4D97-AF65-F5344CB8AC3E}">
        <p14:creationId xmlns:p14="http://schemas.microsoft.com/office/powerpoint/2010/main" val="192334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194271" y="751798"/>
            <a:ext cx="6768465" cy="514469"/>
          </a:xfrm>
          <a:prstGeom prst="rect">
            <a:avLst/>
          </a:prstGeom>
          <a:noFill/>
          <a:ln/>
        </p:spPr>
        <p:txBody>
          <a:bodyPr wrap="none" lIns="0" tIns="0" rIns="0" bIns="0" rtlCol="0" anchor="t"/>
          <a:lstStyle/>
          <a:p>
            <a:pPr>
              <a:lnSpc>
                <a:spcPts val="4050"/>
              </a:lnSpc>
            </a:pPr>
            <a:r>
              <a:rPr lang="en-IN" sz="3600" dirty="0">
                <a:latin typeface="Roboto" panose="02000000000000000000" pitchFamily="2" charset="0"/>
                <a:ea typeface="Roboto" panose="02000000000000000000" pitchFamily="2" charset="0"/>
                <a:cs typeface="Roboto" panose="02000000000000000000" pitchFamily="2" charset="0"/>
              </a:rPr>
              <a:t>Future Work</a:t>
            </a:r>
            <a:endParaRPr lang="en-US" sz="3600" dirty="0">
              <a:latin typeface="Roboto" panose="02000000000000000000" pitchFamily="2" charset="0"/>
              <a:ea typeface="Roboto" panose="02000000000000000000" pitchFamily="2" charset="0"/>
              <a:cs typeface="Roboto" panose="02000000000000000000" pitchFamily="2" charset="0"/>
            </a:endParaRPr>
          </a:p>
        </p:txBody>
      </p:sp>
      <p:sp>
        <p:nvSpPr>
          <p:cNvPr id="3" name="Text 1"/>
          <p:cNvSpPr/>
          <p:nvPr/>
        </p:nvSpPr>
        <p:spPr>
          <a:xfrm>
            <a:off x="2409427" y="2067337"/>
            <a:ext cx="10412968" cy="526733"/>
          </a:xfrm>
          <a:prstGeom prst="rect">
            <a:avLst/>
          </a:prstGeom>
          <a:noFill/>
          <a:ln/>
        </p:spPr>
        <p:txBody>
          <a:bodyPr wrap="square" lIns="0" tIns="0" rIns="0" bIns="0" rtlCol="0" anchor="t"/>
          <a:lstStyle/>
          <a:p>
            <a:pPr marL="0" indent="0" algn="l">
              <a:lnSpc>
                <a:spcPts val="2050"/>
              </a:lnSpc>
              <a:buNone/>
            </a:pPr>
            <a:r>
              <a:rPr lang="en-US" sz="1600" dirty="0">
                <a:solidFill>
                  <a:srgbClr val="3C3939"/>
                </a:solidFill>
                <a:latin typeface="Roboto" pitchFamily="34" charset="0"/>
                <a:ea typeface="Roboto" pitchFamily="34" charset="-122"/>
                <a:cs typeface="Roboto" pitchFamily="34" charset="-120"/>
              </a:rPr>
              <a:t>Our vision extends beyond single-city deployment to create a comprehensive, nationwide platform for intelligent civic infrastructure management.</a:t>
            </a:r>
            <a:endParaRPr lang="en-US" sz="1600" dirty="0"/>
          </a:p>
        </p:txBody>
      </p:sp>
      <p:sp>
        <p:nvSpPr>
          <p:cNvPr id="4" name="Shape 2"/>
          <p:cNvSpPr/>
          <p:nvPr/>
        </p:nvSpPr>
        <p:spPr>
          <a:xfrm flipH="1">
            <a:off x="7288768" y="3362120"/>
            <a:ext cx="62627" cy="3931503"/>
          </a:xfrm>
          <a:prstGeom prst="roundRect">
            <a:avLst>
              <a:gd name="adj" fmla="val 302476"/>
            </a:avLst>
          </a:prstGeom>
          <a:solidFill>
            <a:srgbClr val="C7C7D0"/>
          </a:solidFill>
          <a:ln/>
        </p:spPr>
      </p:sp>
      <p:sp>
        <p:nvSpPr>
          <p:cNvPr id="5" name="Shape 3"/>
          <p:cNvSpPr/>
          <p:nvPr/>
        </p:nvSpPr>
        <p:spPr>
          <a:xfrm>
            <a:off x="6668631" y="3555180"/>
            <a:ext cx="493871" cy="22860"/>
          </a:xfrm>
          <a:prstGeom prst="roundRect">
            <a:avLst>
              <a:gd name="adj" fmla="val 302476"/>
            </a:avLst>
          </a:prstGeom>
          <a:solidFill>
            <a:srgbClr val="C7C7D0"/>
          </a:solidFill>
          <a:ln/>
        </p:spPr>
      </p:sp>
      <p:sp>
        <p:nvSpPr>
          <p:cNvPr id="6" name="Shape 4"/>
          <p:cNvSpPr/>
          <p:nvPr/>
        </p:nvSpPr>
        <p:spPr>
          <a:xfrm>
            <a:off x="7139642" y="3381468"/>
            <a:ext cx="370403" cy="370403"/>
          </a:xfrm>
          <a:prstGeom prst="roundRect">
            <a:avLst>
              <a:gd name="adj" fmla="val 18668"/>
            </a:avLst>
          </a:prstGeom>
          <a:solidFill>
            <a:srgbClr val="E1E1EA"/>
          </a:solidFill>
          <a:ln w="7620">
            <a:solidFill>
              <a:srgbClr val="C7C7D0"/>
            </a:solidFill>
            <a:prstDash val="solid"/>
          </a:ln>
        </p:spPr>
      </p:sp>
      <p:sp>
        <p:nvSpPr>
          <p:cNvPr id="7" name="Text 5"/>
          <p:cNvSpPr/>
          <p:nvPr/>
        </p:nvSpPr>
        <p:spPr>
          <a:xfrm>
            <a:off x="7201317" y="3412305"/>
            <a:ext cx="246936" cy="308610"/>
          </a:xfrm>
          <a:prstGeom prst="rect">
            <a:avLst/>
          </a:prstGeom>
          <a:noFill/>
          <a:ln/>
        </p:spPr>
        <p:txBody>
          <a:bodyPr wrap="none" lIns="0" tIns="0" rIns="0" bIns="0" rtlCol="0" anchor="t"/>
          <a:lstStyle/>
          <a:p>
            <a:pPr marL="0" indent="0" algn="ctr">
              <a:lnSpc>
                <a:spcPts val="1900"/>
              </a:lnSpc>
              <a:buNone/>
            </a:pPr>
            <a:r>
              <a:rPr lang="en-US" sz="2000" dirty="0">
                <a:solidFill>
                  <a:srgbClr val="3C3939"/>
                </a:solidFill>
                <a:latin typeface="Roboto" panose="02000000000000000000" pitchFamily="2" charset="0"/>
                <a:ea typeface="Roboto" panose="02000000000000000000" pitchFamily="2" charset="0"/>
                <a:cs typeface="Roboto" panose="02000000000000000000" pitchFamily="2" charset="0"/>
              </a:rPr>
              <a:t>1</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8" name="Text 6"/>
          <p:cNvSpPr/>
          <p:nvPr/>
        </p:nvSpPr>
        <p:spPr>
          <a:xfrm>
            <a:off x="4350663" y="3438022"/>
            <a:ext cx="2151102" cy="257175"/>
          </a:xfrm>
          <a:prstGeom prst="rect">
            <a:avLst/>
          </a:prstGeom>
          <a:noFill/>
          <a:ln/>
        </p:spPr>
        <p:txBody>
          <a:bodyPr wrap="none" lIns="0" tIns="0" rIns="0" bIns="0" rtlCol="0" anchor="t"/>
          <a:lstStyle/>
          <a:p>
            <a:pPr marL="0" indent="0" algn="r">
              <a:lnSpc>
                <a:spcPts val="2000"/>
              </a:lnSpc>
              <a:buNone/>
            </a:pPr>
            <a:r>
              <a:rPr lang="en-US" dirty="0">
                <a:solidFill>
                  <a:srgbClr val="3C3939"/>
                </a:solidFill>
                <a:latin typeface="Roboto" panose="02000000000000000000" pitchFamily="2" charset="0"/>
                <a:ea typeface="Roboto" panose="02000000000000000000" pitchFamily="2" charset="0"/>
                <a:cs typeface="Roboto" panose="02000000000000000000" pitchFamily="2" charset="0"/>
              </a:rPr>
              <a:t>Multi-City Deployment</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9" name="Text 7"/>
          <p:cNvSpPr/>
          <p:nvPr/>
        </p:nvSpPr>
        <p:spPr>
          <a:xfrm>
            <a:off x="2118360" y="3793900"/>
            <a:ext cx="4383405" cy="526733"/>
          </a:xfrm>
          <a:prstGeom prst="rect">
            <a:avLst/>
          </a:prstGeom>
          <a:noFill/>
          <a:ln/>
        </p:spPr>
        <p:txBody>
          <a:bodyPr wrap="square" lIns="0" tIns="0" rIns="0" bIns="0" rtlCol="0" anchor="t"/>
          <a:lstStyle/>
          <a:p>
            <a:pPr algn="r">
              <a:lnSpc>
                <a:spcPts val="2050"/>
              </a:lnSpc>
            </a:pPr>
            <a:r>
              <a:rPr lang="en-US" sz="1600" dirty="0">
                <a:latin typeface="Roboto" panose="02000000000000000000" pitchFamily="2" charset="0"/>
                <a:ea typeface="Roboto" panose="02000000000000000000" pitchFamily="2" charset="0"/>
                <a:cs typeface="Roboto" panose="02000000000000000000" pitchFamily="2" charset="0"/>
              </a:rPr>
              <a:t>Scale deployment across multiple cities.</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10" name="Shape 8"/>
          <p:cNvSpPr/>
          <p:nvPr/>
        </p:nvSpPr>
        <p:spPr>
          <a:xfrm>
            <a:off x="7487186" y="4542803"/>
            <a:ext cx="493871" cy="22860"/>
          </a:xfrm>
          <a:prstGeom prst="roundRect">
            <a:avLst>
              <a:gd name="adj" fmla="val 302476"/>
            </a:avLst>
          </a:prstGeom>
          <a:solidFill>
            <a:srgbClr val="C7C7D0"/>
          </a:solidFill>
          <a:ln/>
        </p:spPr>
      </p:sp>
      <p:sp>
        <p:nvSpPr>
          <p:cNvPr id="11" name="Shape 9"/>
          <p:cNvSpPr/>
          <p:nvPr/>
        </p:nvSpPr>
        <p:spPr>
          <a:xfrm>
            <a:off x="7139642" y="4369091"/>
            <a:ext cx="370403" cy="370403"/>
          </a:xfrm>
          <a:prstGeom prst="roundRect">
            <a:avLst>
              <a:gd name="adj" fmla="val 18668"/>
            </a:avLst>
          </a:prstGeom>
          <a:solidFill>
            <a:srgbClr val="E1E1EA"/>
          </a:solidFill>
          <a:ln w="7620">
            <a:solidFill>
              <a:srgbClr val="C7C7D0"/>
            </a:solidFill>
            <a:prstDash val="solid"/>
          </a:ln>
        </p:spPr>
      </p:sp>
      <p:sp>
        <p:nvSpPr>
          <p:cNvPr id="12" name="Text 10"/>
          <p:cNvSpPr/>
          <p:nvPr/>
        </p:nvSpPr>
        <p:spPr>
          <a:xfrm>
            <a:off x="7201317" y="4399928"/>
            <a:ext cx="246936" cy="308610"/>
          </a:xfrm>
          <a:prstGeom prst="rect">
            <a:avLst/>
          </a:prstGeom>
          <a:noFill/>
          <a:ln/>
        </p:spPr>
        <p:txBody>
          <a:bodyPr wrap="none" lIns="0" tIns="0" rIns="0" bIns="0" rtlCol="0" anchor="t"/>
          <a:lstStyle/>
          <a:p>
            <a:pPr marL="0" indent="0" algn="ctr">
              <a:lnSpc>
                <a:spcPts val="1900"/>
              </a:lnSpc>
              <a:buNone/>
            </a:pPr>
            <a:r>
              <a:rPr lang="en-US" sz="2000" dirty="0">
                <a:solidFill>
                  <a:srgbClr val="3C3939"/>
                </a:solidFill>
                <a:latin typeface="Roboto" panose="02000000000000000000" pitchFamily="2" charset="0"/>
                <a:ea typeface="Roboto" panose="02000000000000000000" pitchFamily="2" charset="0"/>
                <a:cs typeface="Roboto" panose="02000000000000000000" pitchFamily="2" charset="0"/>
              </a:rPr>
              <a:t>2</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3" name="Text 11"/>
          <p:cNvSpPr/>
          <p:nvPr/>
        </p:nvSpPr>
        <p:spPr>
          <a:xfrm>
            <a:off x="8147923" y="4425646"/>
            <a:ext cx="2057876" cy="257175"/>
          </a:xfrm>
          <a:prstGeom prst="rect">
            <a:avLst/>
          </a:prstGeom>
          <a:noFill/>
          <a:ln/>
        </p:spPr>
        <p:txBody>
          <a:bodyPr wrap="none" lIns="0" tIns="0" rIns="0" bIns="0" rtlCol="0" anchor="t"/>
          <a:lstStyle/>
          <a:p>
            <a:pPr marL="0" indent="0" algn="l">
              <a:lnSpc>
                <a:spcPts val="2000"/>
              </a:lnSpc>
              <a:buNone/>
            </a:pPr>
            <a:r>
              <a:rPr lang="en-US" dirty="0">
                <a:solidFill>
                  <a:srgbClr val="3C3939"/>
                </a:solidFill>
                <a:latin typeface="Roboto" panose="02000000000000000000" pitchFamily="2" charset="0"/>
                <a:ea typeface="Roboto" panose="02000000000000000000" pitchFamily="2" charset="0"/>
                <a:cs typeface="Roboto" panose="02000000000000000000" pitchFamily="2" charset="0"/>
              </a:rPr>
              <a:t>Multilingual Support</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4" name="Text 12"/>
          <p:cNvSpPr/>
          <p:nvPr/>
        </p:nvSpPr>
        <p:spPr>
          <a:xfrm>
            <a:off x="8147923" y="4781524"/>
            <a:ext cx="4383405" cy="526733"/>
          </a:xfrm>
          <a:prstGeom prst="rect">
            <a:avLst/>
          </a:prstGeom>
          <a:noFill/>
          <a:ln/>
        </p:spPr>
        <p:txBody>
          <a:bodyPr wrap="square" lIns="0" tIns="0" rIns="0" bIns="0" rtlCol="0" anchor="t"/>
          <a:lstStyle/>
          <a:p>
            <a:pPr marL="0" indent="0" algn="l">
              <a:lnSpc>
                <a:spcPts val="2050"/>
              </a:lnSpc>
              <a:buNone/>
            </a:pPr>
            <a:r>
              <a:rPr lang="en-US" sz="1250" dirty="0">
                <a:solidFill>
                  <a:srgbClr val="3C3939"/>
                </a:solidFill>
                <a:latin typeface="Roboto" panose="02000000000000000000" pitchFamily="2" charset="0"/>
                <a:ea typeface="Roboto" panose="02000000000000000000" pitchFamily="2" charset="0"/>
                <a:cs typeface="Roboto" panose="02000000000000000000" pitchFamily="2" charset="0"/>
              </a:rPr>
              <a:t>Enable complaint submission in regional languages to ensure inclusive access for all citizens</a:t>
            </a:r>
            <a:endParaRPr lang="en-US" sz="1250" dirty="0">
              <a:latin typeface="Roboto" panose="02000000000000000000" pitchFamily="2" charset="0"/>
              <a:ea typeface="Roboto" panose="02000000000000000000" pitchFamily="2" charset="0"/>
              <a:cs typeface="Roboto" panose="02000000000000000000" pitchFamily="2" charset="0"/>
            </a:endParaRPr>
          </a:p>
        </p:txBody>
      </p:sp>
      <p:sp>
        <p:nvSpPr>
          <p:cNvPr id="15" name="Shape 13"/>
          <p:cNvSpPr/>
          <p:nvPr/>
        </p:nvSpPr>
        <p:spPr>
          <a:xfrm>
            <a:off x="6668631" y="5394100"/>
            <a:ext cx="493871" cy="22860"/>
          </a:xfrm>
          <a:prstGeom prst="roundRect">
            <a:avLst>
              <a:gd name="adj" fmla="val 302476"/>
            </a:avLst>
          </a:prstGeom>
          <a:solidFill>
            <a:srgbClr val="C7C7D0"/>
          </a:solidFill>
          <a:ln/>
        </p:spPr>
      </p:sp>
      <p:sp>
        <p:nvSpPr>
          <p:cNvPr id="16" name="Shape 14"/>
          <p:cNvSpPr/>
          <p:nvPr/>
        </p:nvSpPr>
        <p:spPr>
          <a:xfrm>
            <a:off x="7139642" y="5220388"/>
            <a:ext cx="370403" cy="370403"/>
          </a:xfrm>
          <a:prstGeom prst="roundRect">
            <a:avLst>
              <a:gd name="adj" fmla="val 18668"/>
            </a:avLst>
          </a:prstGeom>
          <a:solidFill>
            <a:srgbClr val="E1E1EA"/>
          </a:solidFill>
          <a:ln w="7620">
            <a:solidFill>
              <a:srgbClr val="C7C7D0"/>
            </a:solidFill>
            <a:prstDash val="solid"/>
          </a:ln>
        </p:spPr>
      </p:sp>
      <p:sp>
        <p:nvSpPr>
          <p:cNvPr id="17" name="Text 15"/>
          <p:cNvSpPr/>
          <p:nvPr/>
        </p:nvSpPr>
        <p:spPr>
          <a:xfrm>
            <a:off x="7201317" y="5251225"/>
            <a:ext cx="246936" cy="308610"/>
          </a:xfrm>
          <a:prstGeom prst="rect">
            <a:avLst/>
          </a:prstGeom>
          <a:noFill/>
          <a:ln/>
        </p:spPr>
        <p:txBody>
          <a:bodyPr wrap="none" lIns="0" tIns="0" rIns="0" bIns="0" rtlCol="0" anchor="t"/>
          <a:lstStyle/>
          <a:p>
            <a:pPr marL="0" indent="0" algn="ctr">
              <a:lnSpc>
                <a:spcPts val="1900"/>
              </a:lnSpc>
              <a:buNone/>
            </a:pPr>
            <a:r>
              <a:rPr lang="en-US" sz="2000" dirty="0">
                <a:solidFill>
                  <a:srgbClr val="3C3939"/>
                </a:solidFill>
                <a:latin typeface="Roboto" panose="02000000000000000000" pitchFamily="2" charset="0"/>
                <a:ea typeface="Roboto" panose="02000000000000000000" pitchFamily="2" charset="0"/>
                <a:cs typeface="Roboto" panose="02000000000000000000" pitchFamily="2" charset="0"/>
              </a:rPr>
              <a:t>3</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18" name="Text 16"/>
          <p:cNvSpPr/>
          <p:nvPr/>
        </p:nvSpPr>
        <p:spPr>
          <a:xfrm>
            <a:off x="4443889" y="5276943"/>
            <a:ext cx="2057876" cy="257175"/>
          </a:xfrm>
          <a:prstGeom prst="rect">
            <a:avLst/>
          </a:prstGeom>
          <a:noFill/>
          <a:ln/>
        </p:spPr>
        <p:txBody>
          <a:bodyPr wrap="none" lIns="0" tIns="0" rIns="0" bIns="0" rtlCol="0" anchor="t"/>
          <a:lstStyle/>
          <a:p>
            <a:pPr marL="0" indent="0" algn="r">
              <a:lnSpc>
                <a:spcPts val="2000"/>
              </a:lnSpc>
              <a:buNone/>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9" name="Text 17"/>
          <p:cNvSpPr/>
          <p:nvPr/>
        </p:nvSpPr>
        <p:spPr>
          <a:xfrm>
            <a:off x="2118360" y="5632821"/>
            <a:ext cx="4383405" cy="526733"/>
          </a:xfrm>
          <a:prstGeom prst="rect">
            <a:avLst/>
          </a:prstGeom>
          <a:noFill/>
          <a:ln/>
        </p:spPr>
        <p:txBody>
          <a:bodyPr wrap="square" lIns="0" tIns="0" rIns="0" bIns="0" rtlCol="0" anchor="t"/>
          <a:lstStyle/>
          <a:p>
            <a:pPr marL="0" indent="0" algn="r">
              <a:lnSpc>
                <a:spcPts val="2050"/>
              </a:lnSpc>
              <a:buNone/>
            </a:pP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20" name="Shape 18"/>
          <p:cNvSpPr/>
          <p:nvPr/>
        </p:nvSpPr>
        <p:spPr>
          <a:xfrm>
            <a:off x="7487186" y="6245516"/>
            <a:ext cx="493871" cy="22860"/>
          </a:xfrm>
          <a:prstGeom prst="roundRect">
            <a:avLst>
              <a:gd name="adj" fmla="val 302476"/>
            </a:avLst>
          </a:prstGeom>
          <a:solidFill>
            <a:srgbClr val="C7C7D0"/>
          </a:solidFill>
          <a:ln/>
        </p:spPr>
      </p:sp>
      <p:sp>
        <p:nvSpPr>
          <p:cNvPr id="21" name="Shape 19"/>
          <p:cNvSpPr/>
          <p:nvPr/>
        </p:nvSpPr>
        <p:spPr>
          <a:xfrm>
            <a:off x="7139642" y="6071804"/>
            <a:ext cx="370403" cy="370403"/>
          </a:xfrm>
          <a:prstGeom prst="roundRect">
            <a:avLst>
              <a:gd name="adj" fmla="val 18668"/>
            </a:avLst>
          </a:prstGeom>
          <a:solidFill>
            <a:srgbClr val="E1E1EA"/>
          </a:solidFill>
          <a:ln w="7620">
            <a:solidFill>
              <a:srgbClr val="C7C7D0"/>
            </a:solidFill>
            <a:prstDash val="solid"/>
          </a:ln>
        </p:spPr>
      </p:sp>
      <p:sp>
        <p:nvSpPr>
          <p:cNvPr id="22" name="Text 20"/>
          <p:cNvSpPr/>
          <p:nvPr/>
        </p:nvSpPr>
        <p:spPr>
          <a:xfrm>
            <a:off x="7201317" y="6102641"/>
            <a:ext cx="246936" cy="308610"/>
          </a:xfrm>
          <a:prstGeom prst="rect">
            <a:avLst/>
          </a:prstGeom>
          <a:noFill/>
          <a:ln/>
        </p:spPr>
        <p:txBody>
          <a:bodyPr wrap="none" lIns="0" tIns="0" rIns="0" bIns="0" rtlCol="0" anchor="t"/>
          <a:lstStyle/>
          <a:p>
            <a:pPr marL="0" indent="0" algn="ctr">
              <a:lnSpc>
                <a:spcPts val="1900"/>
              </a:lnSpc>
              <a:buNone/>
            </a:pPr>
            <a:r>
              <a:rPr lang="en-US" sz="2000" dirty="0">
                <a:solidFill>
                  <a:srgbClr val="3C3939"/>
                </a:solidFill>
                <a:latin typeface="Roboto" panose="02000000000000000000" pitchFamily="2" charset="0"/>
                <a:ea typeface="Roboto" panose="02000000000000000000" pitchFamily="2" charset="0"/>
                <a:cs typeface="Roboto" panose="02000000000000000000" pitchFamily="2" charset="0"/>
              </a:rPr>
              <a:t>4</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23" name="Text 21"/>
          <p:cNvSpPr/>
          <p:nvPr/>
        </p:nvSpPr>
        <p:spPr>
          <a:xfrm>
            <a:off x="8147923" y="6128359"/>
            <a:ext cx="2057876" cy="257175"/>
          </a:xfrm>
          <a:prstGeom prst="rect">
            <a:avLst/>
          </a:prstGeom>
          <a:noFill/>
          <a:ln/>
        </p:spPr>
        <p:txBody>
          <a:bodyPr wrap="none" lIns="0" tIns="0" rIns="0" bIns="0" rtlCol="0" anchor="t"/>
          <a:lstStyle/>
          <a:p>
            <a:pPr marL="0" indent="0" algn="l">
              <a:lnSpc>
                <a:spcPts val="2000"/>
              </a:lnSpc>
              <a:buNone/>
            </a:pPr>
            <a:r>
              <a:rPr lang="en-US" dirty="0">
                <a:solidFill>
                  <a:srgbClr val="3C3939"/>
                </a:solidFill>
                <a:latin typeface="Roboto" panose="02000000000000000000" pitchFamily="2" charset="0"/>
                <a:ea typeface="Roboto" panose="02000000000000000000" pitchFamily="2" charset="0"/>
                <a:cs typeface="Roboto" panose="02000000000000000000" pitchFamily="2" charset="0"/>
              </a:rPr>
              <a:t>Edge Computing</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 name="Text 22"/>
          <p:cNvSpPr/>
          <p:nvPr/>
        </p:nvSpPr>
        <p:spPr>
          <a:xfrm>
            <a:off x="8147923" y="6385534"/>
            <a:ext cx="4383405" cy="526733"/>
          </a:xfrm>
          <a:prstGeom prst="rect">
            <a:avLst/>
          </a:prstGeom>
          <a:noFill/>
          <a:ln/>
        </p:spPr>
        <p:txBody>
          <a:bodyPr wrap="square" lIns="0" tIns="0" rIns="0" bIns="0" rtlCol="0" anchor="t"/>
          <a:lstStyle/>
          <a:p>
            <a:pPr marL="0" indent="0" algn="l">
              <a:lnSpc>
                <a:spcPts val="2050"/>
              </a:lnSpc>
              <a:buNone/>
            </a:pPr>
            <a:r>
              <a:rPr lang="en-US" sz="1250" dirty="0">
                <a:solidFill>
                  <a:srgbClr val="3C3939"/>
                </a:solidFill>
                <a:latin typeface="Roboto" panose="02000000000000000000" pitchFamily="2" charset="0"/>
                <a:ea typeface="Roboto" panose="02000000000000000000" pitchFamily="2" charset="0"/>
                <a:cs typeface="Roboto" panose="02000000000000000000" pitchFamily="2" charset="0"/>
              </a:rPr>
              <a:t>Deploy edge inference capabilities for reliable operation in low-connectivity regions</a:t>
            </a:r>
            <a:endParaRPr lang="en-US" sz="1250" dirty="0">
              <a:latin typeface="Roboto" panose="02000000000000000000" pitchFamily="2" charset="0"/>
              <a:ea typeface="Roboto" panose="02000000000000000000" pitchFamily="2" charset="0"/>
              <a:cs typeface="Roboto" panose="02000000000000000000" pitchFamily="2" charset="0"/>
            </a:endParaRPr>
          </a:p>
        </p:txBody>
      </p:sp>
      <p:sp>
        <p:nvSpPr>
          <p:cNvPr id="25" name="Shape 23"/>
          <p:cNvSpPr/>
          <p:nvPr/>
        </p:nvSpPr>
        <p:spPr>
          <a:xfrm>
            <a:off x="6668631" y="7096932"/>
            <a:ext cx="493871" cy="22860"/>
          </a:xfrm>
          <a:prstGeom prst="roundRect">
            <a:avLst>
              <a:gd name="adj" fmla="val 302476"/>
            </a:avLst>
          </a:prstGeom>
          <a:solidFill>
            <a:srgbClr val="C7C7D0"/>
          </a:solidFill>
          <a:ln/>
        </p:spPr>
      </p:sp>
      <p:sp>
        <p:nvSpPr>
          <p:cNvPr id="26" name="Shape 24"/>
          <p:cNvSpPr/>
          <p:nvPr/>
        </p:nvSpPr>
        <p:spPr>
          <a:xfrm>
            <a:off x="7139642" y="6923220"/>
            <a:ext cx="370403" cy="370403"/>
          </a:xfrm>
          <a:prstGeom prst="roundRect">
            <a:avLst>
              <a:gd name="adj" fmla="val 18668"/>
            </a:avLst>
          </a:prstGeom>
          <a:solidFill>
            <a:srgbClr val="E1E1EA"/>
          </a:solidFill>
          <a:ln w="7620">
            <a:solidFill>
              <a:srgbClr val="C7C7D0"/>
            </a:solidFill>
            <a:prstDash val="solid"/>
          </a:ln>
        </p:spPr>
      </p:sp>
      <p:sp>
        <p:nvSpPr>
          <p:cNvPr id="27" name="Text 25"/>
          <p:cNvSpPr/>
          <p:nvPr/>
        </p:nvSpPr>
        <p:spPr>
          <a:xfrm>
            <a:off x="7201317" y="6954057"/>
            <a:ext cx="246936" cy="308610"/>
          </a:xfrm>
          <a:prstGeom prst="rect">
            <a:avLst/>
          </a:prstGeom>
          <a:noFill/>
          <a:ln/>
        </p:spPr>
        <p:txBody>
          <a:bodyPr wrap="none" lIns="0" tIns="0" rIns="0" bIns="0" rtlCol="0" anchor="t"/>
          <a:lstStyle/>
          <a:p>
            <a:pPr marL="0" indent="0" algn="ctr">
              <a:lnSpc>
                <a:spcPts val="1900"/>
              </a:lnSpc>
              <a:buNone/>
            </a:pPr>
            <a:r>
              <a:rPr lang="en-US" sz="2000" dirty="0">
                <a:solidFill>
                  <a:srgbClr val="3C3939"/>
                </a:solidFill>
                <a:latin typeface="Roboto" panose="02000000000000000000" pitchFamily="2" charset="0"/>
                <a:ea typeface="Roboto" panose="02000000000000000000" pitchFamily="2" charset="0"/>
                <a:cs typeface="Roboto" panose="02000000000000000000" pitchFamily="2" charset="0"/>
              </a:rPr>
              <a:t>5</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28" name="Text 26"/>
          <p:cNvSpPr/>
          <p:nvPr/>
        </p:nvSpPr>
        <p:spPr>
          <a:xfrm>
            <a:off x="4484489" y="5303858"/>
            <a:ext cx="2057876" cy="257175"/>
          </a:xfrm>
          <a:prstGeom prst="rect">
            <a:avLst/>
          </a:prstGeom>
          <a:noFill/>
          <a:ln/>
        </p:spPr>
        <p:txBody>
          <a:bodyPr wrap="none" lIns="0" tIns="0" rIns="0" bIns="0" rtlCol="0" anchor="t"/>
          <a:lstStyle/>
          <a:p>
            <a:pPr marL="0" indent="0" algn="r">
              <a:lnSpc>
                <a:spcPts val="2000"/>
              </a:lnSpc>
              <a:buNone/>
            </a:pPr>
            <a:r>
              <a:rPr lang="en-US" dirty="0">
                <a:solidFill>
                  <a:srgbClr val="3C3939"/>
                </a:solidFill>
                <a:latin typeface="Roboto" panose="02000000000000000000" pitchFamily="2" charset="0"/>
                <a:ea typeface="Roboto" panose="02000000000000000000" pitchFamily="2" charset="0"/>
                <a:cs typeface="Roboto" panose="02000000000000000000" pitchFamily="2" charset="0"/>
              </a:rPr>
              <a:t>Explainable AI</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9" name="Text 27"/>
          <p:cNvSpPr/>
          <p:nvPr/>
        </p:nvSpPr>
        <p:spPr>
          <a:xfrm>
            <a:off x="2158960" y="5659735"/>
            <a:ext cx="4383405" cy="526733"/>
          </a:xfrm>
          <a:prstGeom prst="rect">
            <a:avLst/>
          </a:prstGeom>
          <a:noFill/>
          <a:ln/>
        </p:spPr>
        <p:txBody>
          <a:bodyPr wrap="square" lIns="0" tIns="0" rIns="0" bIns="0" rtlCol="0" anchor="t"/>
          <a:lstStyle/>
          <a:p>
            <a:pPr marL="0" indent="0" algn="r">
              <a:lnSpc>
                <a:spcPts val="2050"/>
              </a:lnSpc>
              <a:buNone/>
            </a:pPr>
            <a:r>
              <a:rPr lang="en-US" sz="1400" dirty="0">
                <a:solidFill>
                  <a:srgbClr val="3C3939"/>
                </a:solidFill>
                <a:latin typeface="Roboto" panose="02000000000000000000" pitchFamily="2" charset="0"/>
                <a:ea typeface="Roboto" panose="02000000000000000000" pitchFamily="2" charset="0"/>
                <a:cs typeface="Roboto" panose="02000000000000000000" pitchFamily="2" charset="0"/>
              </a:rPr>
              <a:t>Provide transparent explanations of AI decisions to build administrative confidence</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32" name="Text 30"/>
          <p:cNvSpPr/>
          <p:nvPr/>
        </p:nvSpPr>
        <p:spPr>
          <a:xfrm>
            <a:off x="7191673" y="7159195"/>
            <a:ext cx="246936" cy="308610"/>
          </a:xfrm>
          <a:prstGeom prst="rect">
            <a:avLst/>
          </a:prstGeom>
          <a:noFill/>
          <a:ln/>
        </p:spPr>
        <p:txBody>
          <a:bodyPr wrap="none" lIns="0" tIns="0" rIns="0" bIns="0" rtlCol="0" anchor="t"/>
          <a:lstStyle/>
          <a:p>
            <a:pPr marL="0" indent="0" algn="ctr">
              <a:lnSpc>
                <a:spcPts val="1900"/>
              </a:lnSpc>
              <a:buNone/>
            </a:pPr>
            <a:endParaRPr lang="en-US" sz="1900" dirty="0">
              <a:latin typeface="Roboto" panose="02000000000000000000" pitchFamily="2" charset="0"/>
              <a:ea typeface="Roboto" panose="02000000000000000000" pitchFamily="2" charset="0"/>
              <a:cs typeface="Roboto" panose="02000000000000000000" pitchFamily="2" charset="0"/>
            </a:endParaRPr>
          </a:p>
        </p:txBody>
      </p:sp>
      <p:sp>
        <p:nvSpPr>
          <p:cNvPr id="33" name="Text 31"/>
          <p:cNvSpPr/>
          <p:nvPr/>
        </p:nvSpPr>
        <p:spPr>
          <a:xfrm>
            <a:off x="4696242" y="6975845"/>
            <a:ext cx="2057876" cy="257175"/>
          </a:xfrm>
          <a:prstGeom prst="rect">
            <a:avLst/>
          </a:prstGeom>
          <a:noFill/>
          <a:ln/>
        </p:spPr>
        <p:txBody>
          <a:bodyPr wrap="none" lIns="0" tIns="0" rIns="0" bIns="0" rtlCol="0" anchor="t"/>
          <a:lstStyle/>
          <a:p>
            <a:pPr marL="0" indent="0" algn="l">
              <a:lnSpc>
                <a:spcPts val="2000"/>
              </a:lnSpc>
              <a:buNone/>
            </a:pPr>
            <a:r>
              <a:rPr lang="en-US" dirty="0">
                <a:solidFill>
                  <a:srgbClr val="3C3939"/>
                </a:solidFill>
                <a:latin typeface="Roboto" panose="02000000000000000000" pitchFamily="2" charset="0"/>
                <a:ea typeface="Roboto" panose="02000000000000000000" pitchFamily="2" charset="0"/>
                <a:cs typeface="Roboto" panose="02000000000000000000" pitchFamily="2" charset="0"/>
              </a:rPr>
              <a:t>Predictive Analytics</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34" name="Text 32"/>
          <p:cNvSpPr/>
          <p:nvPr/>
        </p:nvSpPr>
        <p:spPr>
          <a:xfrm>
            <a:off x="2158960" y="7227907"/>
            <a:ext cx="4383405" cy="526733"/>
          </a:xfrm>
          <a:prstGeom prst="rect">
            <a:avLst/>
          </a:prstGeom>
          <a:noFill/>
          <a:ln/>
        </p:spPr>
        <p:txBody>
          <a:bodyPr wrap="square" lIns="0" tIns="0" rIns="0" bIns="0" rtlCol="0" anchor="t"/>
          <a:lstStyle/>
          <a:p>
            <a:pPr marL="0" indent="0" algn="r">
              <a:lnSpc>
                <a:spcPts val="2050"/>
              </a:lnSpc>
              <a:buNone/>
            </a:pPr>
            <a:r>
              <a:rPr lang="en-US" sz="1400" dirty="0">
                <a:solidFill>
                  <a:srgbClr val="3C3939"/>
                </a:solidFill>
                <a:latin typeface="Roboto" panose="02000000000000000000" pitchFamily="2" charset="0"/>
                <a:ea typeface="Roboto" panose="02000000000000000000" pitchFamily="2" charset="0"/>
                <a:cs typeface="Roboto" panose="02000000000000000000" pitchFamily="2" charset="0"/>
              </a:rPr>
              <a:t>Shift from reactive repairs to preventive maintenance using historical pattern analysis</a:t>
            </a:r>
            <a:endParaRPr lang="en-US" sz="1400" dirty="0">
              <a:latin typeface="Roboto" panose="02000000000000000000" pitchFamily="2" charset="0"/>
              <a:ea typeface="Roboto" panose="02000000000000000000" pitchFamily="2" charset="0"/>
              <a:cs typeface="Roboto" panose="02000000000000000000" pitchFamily="2" charset="0"/>
            </a:endParaRPr>
          </a:p>
        </p:txBody>
      </p:sp>
      <p:sp>
        <p:nvSpPr>
          <p:cNvPr id="36" name="Rectangle 35">
            <a:extLst>
              <a:ext uri="{FF2B5EF4-FFF2-40B4-BE49-F238E27FC236}">
                <a16:creationId xmlns:a16="http://schemas.microsoft.com/office/drawing/2014/main" id="{B24E9853-F494-0FA2-3BCE-9A38B87D53F7}"/>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7" name="Picture 2" descr="RV College of Engineering Bengaluru | Top Engineering Institution">
            <a:extLst>
              <a:ext uri="{FF2B5EF4-FFF2-40B4-BE49-F238E27FC236}">
                <a16:creationId xmlns:a16="http://schemas.microsoft.com/office/drawing/2014/main" id="{A016AE79-BA57-29DC-C950-65A5B08FB4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2" y="285003"/>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9F63333A-423D-5974-A7F7-395026536665}"/>
              </a:ext>
            </a:extLst>
          </p:cNvPr>
          <p:cNvSpPr txBox="1"/>
          <p:nvPr/>
        </p:nvSpPr>
        <p:spPr>
          <a:xfrm>
            <a:off x="11697630" y="498076"/>
            <a:ext cx="2530212"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3CEC5-5672-72B7-56C2-2CB8BCEC7EE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BD5DDF3-3513-A87F-2BF4-10D88FAD3E6D}"/>
              </a:ext>
            </a:extLst>
          </p:cNvPr>
          <p:cNvSpPr/>
          <p:nvPr/>
        </p:nvSpPr>
        <p:spPr>
          <a:xfrm>
            <a:off x="5796327" y="971940"/>
            <a:ext cx="4825228" cy="739058"/>
          </a:xfrm>
          <a:prstGeom prst="rect">
            <a:avLst/>
          </a:prstGeom>
          <a:noFill/>
          <a:ln/>
        </p:spPr>
        <p:txBody>
          <a:bodyPr wrap="none" lIns="0" tIns="0" rIns="0" bIns="0" rtlCol="0" anchor="t"/>
          <a:lstStyle/>
          <a:p>
            <a:pPr marL="0" indent="0" algn="l">
              <a:lnSpc>
                <a:spcPts val="1450"/>
              </a:lnSpc>
              <a:buNone/>
            </a:pPr>
            <a:r>
              <a:rPr lang="en-US" sz="4000" dirty="0">
                <a:solidFill>
                  <a:srgbClr val="3C3939"/>
                </a:solidFill>
                <a:latin typeface="Roboto" pitchFamily="34" charset="0"/>
                <a:ea typeface="Roboto" pitchFamily="34" charset="-122"/>
                <a:cs typeface="Roboto" pitchFamily="34" charset="-120"/>
              </a:rPr>
              <a:t>Conclusion</a:t>
            </a:r>
            <a:endParaRPr lang="en-US" sz="4000" dirty="0"/>
          </a:p>
        </p:txBody>
      </p:sp>
      <p:sp>
        <p:nvSpPr>
          <p:cNvPr id="21" name="Rectangle 20">
            <a:extLst>
              <a:ext uri="{FF2B5EF4-FFF2-40B4-BE49-F238E27FC236}">
                <a16:creationId xmlns:a16="http://schemas.microsoft.com/office/drawing/2014/main" id="{3C0F69F7-C5B9-47AB-5EEA-BB7FBBB209CE}"/>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6AAD0BA3-7668-C836-FF7C-F65F0B415D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1F32A43E-31AB-7F37-E546-FC413C5A806C}"/>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
        <p:nvSpPr>
          <p:cNvPr id="5" name="TextBox 4">
            <a:extLst>
              <a:ext uri="{FF2B5EF4-FFF2-40B4-BE49-F238E27FC236}">
                <a16:creationId xmlns:a16="http://schemas.microsoft.com/office/drawing/2014/main" id="{A00A8B04-C2F2-3081-9B91-850FE7F26D9A}"/>
              </a:ext>
            </a:extLst>
          </p:cNvPr>
          <p:cNvSpPr txBox="1"/>
          <p:nvPr/>
        </p:nvSpPr>
        <p:spPr>
          <a:xfrm>
            <a:off x="295145" y="2325332"/>
            <a:ext cx="14040110" cy="3970318"/>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SnapFix demonstrates how artificial intelligence and citizen participation can be effectively combined to enhance urban infrastructure governance. By integrating computer vision for image-based issue classification, natural language processing for urgency detection, and geospatial analytics for decision support, the platform streamlines complaint handling while improving transparency and accountability. The system reduces manual intervention, accelerates response times, and empowers municipalities with data-driven insights for sustainable maintenance planning. Overall, SnapFix offers a scalable and inclusive framework for modern urban management, contributing toward safer, more resilient, and participatory cities in alignment with Sustainable Development Goal 11.</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704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6FDD-C65F-1100-4CC1-9B73675E504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9F86384-635C-0214-D4B0-B082B608AC2D}"/>
              </a:ext>
            </a:extLst>
          </p:cNvPr>
          <p:cNvSpPr/>
          <p:nvPr/>
        </p:nvSpPr>
        <p:spPr>
          <a:xfrm>
            <a:off x="1955328" y="4858256"/>
            <a:ext cx="10719744" cy="3554224"/>
          </a:xfrm>
          <a:prstGeom prst="rect">
            <a:avLst/>
          </a:prstGeom>
          <a:noFill/>
          <a:ln/>
        </p:spPr>
        <p:txBody>
          <a:bodyPr wrap="none" lIns="0" tIns="0" rIns="0" bIns="0" rtlCol="0" anchor="t"/>
          <a:lstStyle/>
          <a:p>
            <a:pPr marL="0" indent="0" algn="l">
              <a:lnSpc>
                <a:spcPts val="1450"/>
              </a:lnSpc>
              <a:buNone/>
            </a:pPr>
            <a:r>
              <a:rPr lang="en-US" sz="16600" dirty="0">
                <a:solidFill>
                  <a:srgbClr val="3C3939"/>
                </a:solidFill>
                <a:latin typeface="Raleway" pitchFamily="2" charset="0"/>
                <a:ea typeface="Roboto" pitchFamily="34" charset="-122"/>
                <a:cs typeface="Roboto" pitchFamily="34" charset="-120"/>
              </a:rPr>
              <a:t>Thank  You</a:t>
            </a:r>
            <a:endParaRPr lang="en-US" sz="16600" dirty="0">
              <a:latin typeface="Raleway" pitchFamily="2" charset="0"/>
            </a:endParaRPr>
          </a:p>
        </p:txBody>
      </p:sp>
      <p:sp>
        <p:nvSpPr>
          <p:cNvPr id="21" name="Rectangle 20">
            <a:extLst>
              <a:ext uri="{FF2B5EF4-FFF2-40B4-BE49-F238E27FC236}">
                <a16:creationId xmlns:a16="http://schemas.microsoft.com/office/drawing/2014/main" id="{C2B1AB40-5B3E-6B0B-BF10-2BE6C7EEB3EA}"/>
              </a:ext>
            </a:extLst>
          </p:cNvPr>
          <p:cNvSpPr/>
          <p:nvPr/>
        </p:nvSpPr>
        <p:spPr>
          <a:xfrm>
            <a:off x="12812751" y="7716644"/>
            <a:ext cx="1683834" cy="4125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 descr="RV College of Engineering Bengaluru | Top Engineering Institution">
            <a:extLst>
              <a:ext uri="{FF2B5EF4-FFF2-40B4-BE49-F238E27FC236}">
                <a16:creationId xmlns:a16="http://schemas.microsoft.com/office/drawing/2014/main" id="{3E1431FA-5FD7-1136-6128-D1886A11B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71" y="299136"/>
            <a:ext cx="2732049" cy="117363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F9DD590C-4E7F-D903-0160-CA4AFE3EEEA7}"/>
              </a:ext>
            </a:extLst>
          </p:cNvPr>
          <p:cNvSpPr txBox="1"/>
          <p:nvPr/>
        </p:nvSpPr>
        <p:spPr>
          <a:xfrm>
            <a:off x="11675327" y="516619"/>
            <a:ext cx="2448250" cy="369332"/>
          </a:xfrm>
          <a:prstGeom prst="rect">
            <a:avLst/>
          </a:prstGeom>
          <a:noFill/>
        </p:spPr>
        <p:txBody>
          <a:bodyPr wrap="square">
            <a:spAutoFit/>
          </a:bodyPr>
          <a:lstStyle/>
          <a:p>
            <a:r>
              <a:rPr lang="en-IN" sz="1800" i="1" dirty="0">
                <a:solidFill>
                  <a:schemeClr val="accent1">
                    <a:lumMod val="75000"/>
                  </a:schemeClr>
                </a:solidFill>
                <a:latin typeface="Times New Roman" panose="02020603050405020304" pitchFamily="18" charset="0"/>
                <a:cs typeface="Times New Roman" panose="02020603050405020304" pitchFamily="18" charset="0"/>
              </a:rPr>
              <a:t>Go, Change the world</a:t>
            </a:r>
          </a:p>
        </p:txBody>
      </p:sp>
    </p:spTree>
    <p:extLst>
      <p:ext uri="{BB962C8B-B14F-4D97-AF65-F5344CB8AC3E}">
        <p14:creationId xmlns:p14="http://schemas.microsoft.com/office/powerpoint/2010/main" val="3114576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1937</Words>
  <Application>Microsoft Office PowerPoint</Application>
  <PresentationFormat>Custom</PresentationFormat>
  <Paragraphs>256</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Roboto</vt:lpstr>
      <vt:lpstr>Times New Roman</vt:lpstr>
      <vt:lpstr>Raleway Light</vt:lpstr>
      <vt:lpstr>Raleway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POOJARY N YASHAS</dc:creator>
  <cp:lastModifiedBy>POOJARY N YASHAS</cp:lastModifiedBy>
  <cp:revision>4</cp:revision>
  <dcterms:created xsi:type="dcterms:W3CDTF">2026-01-20T14:43:32Z</dcterms:created>
  <dcterms:modified xsi:type="dcterms:W3CDTF">2026-01-20T16:59:25Z</dcterms:modified>
</cp:coreProperties>
</file>